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Opening. Say the one line: this is the geofencing engine itself, not an app wrapped around one. The deck covers what we are building, what we are using, and how we work — results live in the separate benchmark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Ground the problem in the terrain before any technology. The four cards on the right are the four constraints every later design decision answers 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pivot slide. Everything after this follows from it. If you only get one sentence in, make it this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researched before coding — SafeVoyage on GitHub and the STSMIRS paper. Note the pattern: every hard part is delegated. The callout is the consequence.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read all eleven. Pick three — 1, 3 and 8 read best — and say the rest are documented in GAP_ANALYSIS.md with citations.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Scope discipline. Expect the question 'why no mobile app?' — the answer is ground truth and reproducibility, not effort. The PostGIS card is the punchline.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break into the technical half.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Layers depend downward only, which is why every structure can be tested alone. The dark band at the bottom is the part the course actually grades.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centre of the whole project. Walk steps 1 to 8 in order, then land on the callout: step 3 is the performance story, step 7 is where the bugs live.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tick, end to end. Emphasise step 3: the engine only ever sees the noisy fix, never the true position — that separation is what makes measurement possible.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graded core. Say the ground rule out loud: if a container does something interesting, we wrote it. Offer to go deep on any one of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asked 'which did you understand most deeply', pick the persistent quadtree or the rollback union-find and give the trade-off, not the definition.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Breadth slide. The last line matters most: every algorithm is checked against a slow, obviously-correct version of itself.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Expect 'is the data real?' — answer both halves. Real geography, simulated people, and simulation is a feature because it gives ground truth.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 dependencies is a deliberate constraint, not a limitation. Four make targets are the entire interface; demo them live if there is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credibility slide. Oracle testing is how all three of our real bugs were found — one of them by looking at the index overlay in the dashboard.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How a teammate picks up work: read the header, write the test, implement, then record it in the worklog. Interfaces are written before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Honest status. CI is green and the full suite passes; the results are honest and scenario-caveated. Never present a stub as finished.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on the one sentence, then take questions. DESIGN_DEFENSE.md has the prepared answers to the hard ones.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6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12280" y="1051560"/>
            <a:ext cx="4754880" cy="4754880"/>
          </a:xfrm>
          <a:prstGeom prst="roundRect">
            <a:avLst>
              <a:gd name="adj" fmla="val 5000"/>
            </a:avLst>
          </a:prstGeom>
          <a:solidFill>
            <a:srgbClr val="1B3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7269480" y="1600200"/>
            <a:ext cx="1965960" cy="1463040"/>
          </a:xfrm>
          <a:prstGeom prst="roundRect">
            <a:avLst>
              <a:gd name="adj" fmla="val 16000"/>
            </a:avLst>
          </a:prstGeom>
          <a:solidFill>
            <a:srgbClr val="27503F"/>
          </a:solidFill>
          <a:ln w="15875">
            <a:solidFill>
              <a:srgbClr val="7FB0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9281160" y="2148840"/>
            <a:ext cx="1783080" cy="1234440"/>
          </a:xfrm>
          <a:prstGeom prst="ellipse">
            <a:avLst/>
          </a:prstGeom>
          <a:solidFill>
            <a:srgbClr val="27503F"/>
          </a:solidFill>
          <a:ln w="15875">
            <a:solidFill>
              <a:srgbClr val="7FB0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Hexagon 4"/>
          <p:cNvSpPr/>
          <p:nvPr/>
        </p:nvSpPr>
        <p:spPr>
          <a:xfrm>
            <a:off x="7635240" y="3520440"/>
            <a:ext cx="2286000" cy="1737360"/>
          </a:xfrm>
          <a:prstGeom prst="hexagon">
            <a:avLst/>
          </a:prstGeom>
          <a:solidFill>
            <a:srgbClr val="4A3320"/>
          </a:solidFill>
          <a:ln w="15875">
            <a:solidFill>
              <a:srgbClr val="E883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0" y="4736592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E8833A"/>
                </a:solidFill>
                <a:latin typeface="Calibri"/>
              </a:rPr>
              <a:t>hazard zone</a:t>
            </a:r>
          </a:p>
        </p:txBody>
      </p:sp>
      <p:sp>
        <p:nvSpPr>
          <p:cNvPr id="7" name="Oval 6"/>
          <p:cNvSpPr/>
          <p:nvPr/>
        </p:nvSpPr>
        <p:spPr>
          <a:xfrm>
            <a:off x="7863840" y="2148840"/>
            <a:ext cx="128016" cy="128016"/>
          </a:xfrm>
          <a:prstGeom prst="ellipse">
            <a:avLst/>
          </a:prstGeom>
          <a:solidFill>
            <a:srgbClr val="7FB0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549640" y="2697480"/>
            <a:ext cx="128016" cy="128016"/>
          </a:xfrm>
          <a:prstGeom prst="ellipse">
            <a:avLst/>
          </a:prstGeom>
          <a:solidFill>
            <a:srgbClr val="7FB0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966960" y="2514600"/>
            <a:ext cx="128016" cy="128016"/>
          </a:xfrm>
          <a:prstGeom prst="ellipse">
            <a:avLst/>
          </a:prstGeom>
          <a:solidFill>
            <a:srgbClr val="7FB0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561320" y="2926080"/>
            <a:ext cx="128016" cy="128016"/>
          </a:xfrm>
          <a:prstGeom prst="ellipse">
            <a:avLst/>
          </a:prstGeom>
          <a:solidFill>
            <a:srgbClr val="7FB0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641080" y="3977639"/>
            <a:ext cx="164592" cy="164592"/>
          </a:xfrm>
          <a:prstGeom prst="ellipse">
            <a:avLst/>
          </a:prstGeom>
          <a:solidFill>
            <a:srgbClr val="E88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555480" y="4892040"/>
            <a:ext cx="128016" cy="128016"/>
          </a:xfrm>
          <a:prstGeom prst="ellipse">
            <a:avLst/>
          </a:prstGeom>
          <a:solidFill>
            <a:srgbClr val="7FB0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332720" y="4434840"/>
            <a:ext cx="128016" cy="128016"/>
          </a:xfrm>
          <a:prstGeom prst="ellipse">
            <a:avLst/>
          </a:prstGeom>
          <a:solidFill>
            <a:srgbClr val="7FB0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452360" y="5074920"/>
            <a:ext cx="128016" cy="128016"/>
          </a:xfrm>
          <a:prstGeom prst="ellipse">
            <a:avLst/>
          </a:prstGeom>
          <a:solidFill>
            <a:srgbClr val="7FB0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69480" y="534924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9FB3A8"/>
                </a:solidFill>
                <a:latin typeface="Calibri"/>
              </a:rPr>
              <a:t>tourists  ·  zones  ·  transitions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1783080"/>
            <a:ext cx="576072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400" b="1" i="0">
                <a:solidFill>
                  <a:srgbClr val="FFFFFF"/>
                </a:solidFill>
                <a:latin typeface="Cambria"/>
              </a:rPr>
              <a:t>safetrail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2880360"/>
            <a:ext cx="566928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900" b="0" i="0">
                <a:solidFill>
                  <a:srgbClr val="7FB069"/>
                </a:solidFill>
                <a:latin typeface="Calibri"/>
              </a:rPr>
              <a:t>A geofencing and incident-response engine for tourist safety in low-connectivity terrain.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251960"/>
            <a:ext cx="566928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9FB3A8"/>
                </a:solidFill>
                <a:latin typeface="Calibri"/>
              </a:rPr>
              <a:t>What we're building, what we're using, and how we're building it.</a:t>
            </a:r>
          </a:p>
          <a:p>
            <a:pPr algn="l"/>
            <a:r>
              <a:rPr sz="1250" b="0" i="0">
                <a:solidFill>
                  <a:srgbClr val="9FB3A8"/>
                </a:solidFill>
                <a:latin typeface="Calibri"/>
              </a:rPr>
              <a:t>Data Structures course project  ·  derived from SIH25002 (MDoNER)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806440"/>
            <a:ext cx="6035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7FB069"/>
                </a:solidFill>
                <a:latin typeface="Courier New"/>
              </a:rPr>
              <a:t>github.com/adivishall/safetrail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02336"/>
            <a:ext cx="1091153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4F7B3F"/>
                </a:solidFill>
                <a:latin typeface="Calibri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11535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300" b="1" i="0">
                <a:solidFill>
                  <a:srgbClr val="0F2620"/>
                </a:solidFill>
                <a:latin typeface="Cambria"/>
              </a:rPr>
              <a:t>Know when a tourist walks into danger — in real 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00200"/>
            <a:ext cx="5394960" cy="292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1450" b="0" i="0">
                <a:solidFill>
                  <a:srgbClr val="1E2E27"/>
                </a:solidFill>
                <a:latin typeface="Calibri"/>
              </a:rPr>
              <a:t>Northeast India — Meghalaya. Deep valleys, dense forest, patchy mobile coverage, and visitors who have no way of knowing which slope slides after rain or where a lakeshore drops away.</a:t>
            </a:r>
          </a:p>
          <a:p>
            <a:pPr algn="l">
              <a:lnSpc>
                <a:spcPct val="125000"/>
              </a:lnSpc>
            </a:pPr>
            <a:r>
              <a:rPr sz="1450" b="0" i="0">
                <a:solidFill>
                  <a:srgbClr val="1E2E27"/>
                </a:solidFill>
                <a:latin typeface="Calibri"/>
              </a:rPr>
              <a:t>The task: track a population of tourists against hazard zones, know the moment someone is at risk, and get the right responder to them.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4434840"/>
            <a:ext cx="5394960" cy="1051560"/>
          </a:xfrm>
          <a:prstGeom prst="roundRect">
            <a:avLst>
              <a:gd name="adj" fmla="val 7000"/>
            </a:avLst>
          </a:prstGeom>
          <a:solidFill>
            <a:srgbClr val="ED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645152"/>
            <a:ext cx="48920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0F2620"/>
                </a:solidFill>
                <a:latin typeface="Calibri"/>
              </a:rPr>
              <a:t>Smart India Hackathon 2025  ·  problem statement SIH25002</a:t>
            </a:r>
          </a:p>
          <a:p>
            <a:pPr algn="l"/>
            <a:r>
              <a:rPr sz="1100" b="0" i="0">
                <a:solidFill>
                  <a:srgbClr val="5F7068"/>
                </a:solidFill>
                <a:latin typeface="Calibri"/>
              </a:rPr>
              <a:t>Ministry of Development of North Eastern Region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92240" y="1600200"/>
            <a:ext cx="5056632" cy="960120"/>
          </a:xfrm>
          <a:prstGeom prst="roundRect">
            <a:avLst>
              <a:gd name="adj" fmla="val 7000"/>
            </a:avLst>
          </a:prstGeom>
          <a:solidFill>
            <a:srgbClr val="ED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6720840" y="1883664"/>
            <a:ext cx="384048" cy="384048"/>
          </a:xfrm>
          <a:prstGeom prst="ellipse">
            <a:avLst/>
          </a:prstGeom>
          <a:solidFill>
            <a:srgbClr val="4F7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42048" y="1773936"/>
            <a:ext cx="411480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0F2620"/>
                </a:solidFill>
                <a:latin typeface="Calibri"/>
              </a:rPr>
              <a:t>Terrain hazards</a:t>
            </a:r>
          </a:p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5F7068"/>
                </a:solidFill>
                <a:latin typeface="Calibri"/>
              </a:rPr>
              <a:t>landslide slopes, restricted border zones, deep-water lakeshores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2743200"/>
            <a:ext cx="5056632" cy="960120"/>
          </a:xfrm>
          <a:prstGeom prst="roundRect">
            <a:avLst>
              <a:gd name="adj" fmla="val 7000"/>
            </a:avLst>
          </a:prstGeom>
          <a:solidFill>
            <a:srgbClr val="ED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6720840" y="3026664"/>
            <a:ext cx="384048" cy="384048"/>
          </a:xfrm>
          <a:prstGeom prst="ellipse">
            <a:avLst/>
          </a:prstGeom>
          <a:solidFill>
            <a:srgbClr val="4F7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42048" y="2916936"/>
            <a:ext cx="411480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0F2620"/>
                </a:solidFill>
                <a:latin typeface="Calibri"/>
              </a:rPr>
              <a:t>No connectivity</a:t>
            </a:r>
          </a:p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5F7068"/>
                </a:solidFill>
                <a:latin typeface="Calibri"/>
              </a:rPr>
              <a:t>a device may be on its own for hours at a time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92240" y="3886200"/>
            <a:ext cx="5056632" cy="960120"/>
          </a:xfrm>
          <a:prstGeom prst="roundRect">
            <a:avLst>
              <a:gd name="adj" fmla="val 7000"/>
            </a:avLst>
          </a:prstGeom>
          <a:solidFill>
            <a:srgbClr val="ED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Oval 13"/>
          <p:cNvSpPr/>
          <p:nvPr/>
        </p:nvSpPr>
        <p:spPr>
          <a:xfrm>
            <a:off x="6720840" y="4169663"/>
            <a:ext cx="384048" cy="384048"/>
          </a:xfrm>
          <a:prstGeom prst="ellipse">
            <a:avLst/>
          </a:prstGeom>
          <a:solidFill>
            <a:srgbClr val="4F7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42048" y="4059936"/>
            <a:ext cx="411480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0F2620"/>
                </a:solidFill>
                <a:latin typeface="Calibri"/>
              </a:rPr>
              <a:t>GPS lies in hills</a:t>
            </a:r>
          </a:p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5F7068"/>
                </a:solidFill>
                <a:latin typeface="Calibri"/>
              </a:rPr>
              <a:t>about 4 m in open sky, up to 35 m under multipath reflection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92240" y="5029200"/>
            <a:ext cx="5056632" cy="960120"/>
          </a:xfrm>
          <a:prstGeom prst="roundRect">
            <a:avLst>
              <a:gd name="adj" fmla="val 7000"/>
            </a:avLst>
          </a:prstGeom>
          <a:solidFill>
            <a:srgbClr val="ED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6720840" y="5312664"/>
            <a:ext cx="384048" cy="384048"/>
          </a:xfrm>
          <a:prstGeom prst="ellipse">
            <a:avLst/>
          </a:prstGeom>
          <a:solidFill>
            <a:srgbClr val="4F7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42048" y="5202936"/>
            <a:ext cx="411480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0F2620"/>
                </a:solidFill>
                <a:latin typeface="Calibri"/>
              </a:rPr>
              <a:t>Alert volume</a:t>
            </a:r>
          </a:p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5F7068"/>
                </a:solidFill>
                <a:latin typeface="Calibri"/>
              </a:rPr>
              <a:t>one landslide near a viewpoint can raise forty separate alerts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419088"/>
            <a:ext cx="3657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5F7068"/>
                </a:solidFill>
                <a:latin typeface="Calibri"/>
              </a:rPr>
              <a:t>safetrail  ·  Data Structures course project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54335" y="6419088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0" i="0">
                <a:solidFill>
                  <a:srgbClr val="5F7068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6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02336"/>
            <a:ext cx="1091153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7FB069"/>
                </a:solidFill>
                <a:latin typeface="Calibri"/>
              </a:rPr>
              <a:t>OUR POSITION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1060704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3400" b="1" i="0">
                <a:solidFill>
                  <a:srgbClr val="FFFFFF"/>
                </a:solidFill>
                <a:latin typeface="Cambria"/>
              </a:rPr>
              <a:t>Every existing implementation hands the hard part to a database.</a:t>
            </a:r>
          </a:p>
          <a:p>
            <a:pPr algn="l">
              <a:lnSpc>
                <a:spcPct val="112000"/>
              </a:lnSpc>
            </a:pPr>
            <a:r>
              <a:rPr sz="3400" b="1" i="0">
                <a:solidFill>
                  <a:srgbClr val="7FB069"/>
                </a:solidFill>
                <a:latin typeface="Cambria"/>
              </a:rPr>
              <a:t>We are writing that engine ourselves.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3703320"/>
            <a:ext cx="3502152" cy="1600200"/>
          </a:xfrm>
          <a:prstGeom prst="roundRect">
            <a:avLst>
              <a:gd name="adj" fmla="val 7000"/>
            </a:avLst>
          </a:prstGeom>
          <a:solidFill>
            <a:srgbClr val="1B3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32688" y="3977639"/>
            <a:ext cx="29260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7FB069"/>
                </a:solidFill>
                <a:latin typeface="Cambria"/>
              </a:rPr>
              <a:t>The geometry</a:t>
            </a:r>
          </a:p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D8E4DC"/>
                </a:solidFill>
                <a:latin typeface="Calibri"/>
              </a:rPr>
              <a:t>point-in-polygon, circle vs polygon, signed distance to a boundary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3703320"/>
            <a:ext cx="3502152" cy="1600200"/>
          </a:xfrm>
          <a:prstGeom prst="roundRect">
            <a:avLst>
              <a:gd name="adj" fmla="val 7000"/>
            </a:avLst>
          </a:prstGeom>
          <a:solidFill>
            <a:srgbClr val="1B3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4636008" y="3977639"/>
            <a:ext cx="29260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7FB069"/>
                </a:solidFill>
                <a:latin typeface="Cambria"/>
              </a:rPr>
              <a:t>The spatial index</a:t>
            </a:r>
          </a:p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D8E4DC"/>
                </a:solidFill>
                <a:latin typeface="Calibri"/>
              </a:rPr>
              <a:t>quadtree, R-tree, geohash, k-d tree — and the brute-force oracle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19" y="3703320"/>
            <a:ext cx="3502152" cy="1600200"/>
          </a:xfrm>
          <a:prstGeom prst="roundRect">
            <a:avLst>
              <a:gd name="adj" fmla="val 7000"/>
            </a:avLst>
          </a:prstGeom>
          <a:solidFill>
            <a:srgbClr val="1B3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339327" y="3977639"/>
            <a:ext cx="29260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7FB069"/>
                </a:solidFill>
                <a:latin typeface="Cambria"/>
              </a:rPr>
              <a:t>The evidence</a:t>
            </a:r>
          </a:p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D8E4DC"/>
                </a:solidFill>
                <a:latin typeface="Calibri"/>
              </a:rPr>
              <a:t>SHA-256 and an RFC 6962 Merkle log, verifiable with no network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650992"/>
            <a:ext cx="1091153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9FB3A8"/>
                </a:solidFill>
                <a:latin typeface="Calibri"/>
              </a:rPr>
              <a:t>That single decision is what makes this a data-structures project instead of a web app.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19088"/>
            <a:ext cx="3657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9FB3A8"/>
                </a:solidFill>
                <a:latin typeface="Calibri"/>
              </a:rPr>
              <a:t>safetrail  ·  Data Structures course project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54335" y="6419088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0" i="0">
                <a:solidFill>
                  <a:srgbClr val="9FB3A8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02336"/>
            <a:ext cx="1091153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4F7B3F"/>
                </a:solidFill>
                <a:latin typeface="Calibri"/>
              </a:rPr>
              <a:t>THE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11535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300" b="1" i="0">
                <a:solidFill>
                  <a:srgbClr val="0F2620"/>
                </a:solidFill>
                <a:latin typeface="Cambria"/>
              </a:rPr>
              <a:t>We read the existing implementations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26464"/>
            <a:ext cx="1091153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5F7068"/>
                </a:solidFill>
                <a:latin typeface="Calibri"/>
              </a:rPr>
              <a:t>Two are public — SafeVoyage (GitHub) and STSMIRS (a published paper). They converge on an identical shape.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2084831"/>
          <a:ext cx="10911535" cy="283464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3200400"/>
                <a:gridCol w="3566160"/>
                <a:gridCol w="4144975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The hard part</a:t>
                      </a:r>
                    </a:p>
                  </a:txBody>
                  <a:tcPr marL="146304" marR="109728" marT="73152" marB="73152" anchor="ctr">
                    <a:solidFill>
                      <a:srgbClr val="0F262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What they use</a:t>
                      </a:r>
                    </a:p>
                  </a:txBody>
                  <a:tcPr marL="146304" marR="109728" marT="73152" marB="73152" anchor="ctr">
                    <a:solidFill>
                      <a:srgbClr val="0F262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What we do instead</a:t>
                      </a:r>
                    </a:p>
                  </a:txBody>
                  <a:tcPr marL="146304" marR="109728" marT="73152" marB="73152" anchor="ctr">
                    <a:solidFill>
                      <a:srgbClr val="0F2620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E2E27"/>
                          </a:solidFill>
                          <a:latin typeface="Calibri"/>
                        </a:rPr>
                        <a:t>“Is this point inside this zone?”</a:t>
                      </a:r>
                    </a:p>
                  </a:txBody>
                  <a:tcPr marL="146304" marR="109728" marT="73152" marB="73152" anchor="ctr">
                    <a:solidFill>
                      <a:srgbClr val="ED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E2E27"/>
                          </a:solidFill>
                          <a:latin typeface="Calibri"/>
                        </a:rPr>
                        <a:t>PostGIS ST_Contains, on a server</a:t>
                      </a:r>
                    </a:p>
                  </a:txBody>
                  <a:tcPr marL="146304" marR="109728" marT="73152" marB="73152" anchor="ctr">
                    <a:solidFill>
                      <a:srgbClr val="ED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4F7B3F"/>
                          </a:solidFill>
                          <a:latin typeface="Calibri"/>
                        </a:rPr>
                        <a:t>Our own containment geometry, three-valued</a:t>
                      </a:r>
                    </a:p>
                  </a:txBody>
                  <a:tcPr marL="146304" marR="109728" marT="73152" marB="73152" anchor="ctr">
                    <a:solidFill>
                      <a:srgbClr val="EDF2EA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E2E27"/>
                          </a:solidFill>
                          <a:latin typeface="Calibri"/>
                        </a:rPr>
                        <a:t>“Which zones are near here?”</a:t>
                      </a:r>
                    </a:p>
                  </a:txBody>
                  <a:tcPr marL="146304" marR="109728" marT="73152" marB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E2E27"/>
                          </a:solidFill>
                          <a:latin typeface="Calibri"/>
                        </a:rPr>
                        <a:t>PostGIS GiST index</a:t>
                      </a:r>
                    </a:p>
                  </a:txBody>
                  <a:tcPr marL="146304" marR="109728" marT="73152" marB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4F7B3F"/>
                          </a:solidFill>
                          <a:latin typeface="Calibri"/>
                        </a:rPr>
                        <a:t>Our own quadtree and R-tree, benchmarked head to head</a:t>
                      </a:r>
                    </a:p>
                  </a:txBody>
                  <a:tcPr marL="146304" marR="109728" marT="73152" marB="7315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E2E27"/>
                          </a:solidFill>
                          <a:latin typeface="Calibri"/>
                        </a:rPr>
                        <a:t>Tamper-proof identity</a:t>
                      </a:r>
                    </a:p>
                  </a:txBody>
                  <a:tcPr marL="146304" marR="109728" marT="73152" marB="73152" anchor="ctr">
                    <a:solidFill>
                      <a:srgbClr val="ED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E2E27"/>
                          </a:solidFill>
                          <a:latin typeface="Calibri"/>
                        </a:rPr>
                        <a:t>An Ethereum contract via Hardhat</a:t>
                      </a:r>
                    </a:p>
                  </a:txBody>
                  <a:tcPr marL="146304" marR="109728" marT="73152" marB="73152" anchor="ctr">
                    <a:solidFill>
                      <a:srgbClr val="ED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4F7B3F"/>
                          </a:solidFill>
                          <a:latin typeface="Calibri"/>
                        </a:rPr>
                        <a:t>Our own Merkle log, verified offline from a cached root</a:t>
                      </a:r>
                    </a:p>
                  </a:txBody>
                  <a:tcPr marL="146304" marR="109728" marT="73152" marB="73152" anchor="ctr">
                    <a:solidFill>
                      <a:srgbClr val="EDF2EA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E2E27"/>
                          </a:solidFill>
                          <a:latin typeface="Calibri"/>
                        </a:rPr>
                        <a:t>Anomaly detection</a:t>
                      </a:r>
                    </a:p>
                  </a:txBody>
                  <a:tcPr marL="146304" marR="109728" marT="73152" marB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E2E27"/>
                          </a:solidFill>
                          <a:latin typeface="Calibri"/>
                        </a:rPr>
                        <a:t>An imported LSTM model</a:t>
                      </a:r>
                    </a:p>
                  </a:txBody>
                  <a:tcPr marL="146304" marR="109728" marT="73152" marB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4F7B3F"/>
                          </a:solidFill>
                          <a:latin typeface="Calibri"/>
                        </a:rPr>
                        <a:t>Geometric and statistical detection we can explain</a:t>
                      </a:r>
                    </a:p>
                  </a:txBody>
                  <a:tcPr marL="146304" marR="109728" marT="73152" marB="7315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640080" y="5138928"/>
            <a:ext cx="10911535" cy="1097280"/>
          </a:xfrm>
          <a:prstGeom prst="roundRect">
            <a:avLst>
              <a:gd name="adj" fmla="val 7000"/>
            </a:avLst>
          </a:prstGeom>
          <a:solidFill>
            <a:srgbClr val="ED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60119" y="5349240"/>
            <a:ext cx="1027145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0F2620"/>
                </a:solidFill>
                <a:latin typeface="Calibri"/>
              </a:rPr>
              <a:t>Two consequences, and we take both.</a:t>
            </a:r>
          </a:p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1E2E27"/>
                </a:solidFill>
                <a:latin typeface="Calibri"/>
              </a:rPr>
              <a:t>For a data-structures course it is the wrong project — the interesting work happens inside PostGIS.   And depending on a server-side spatial database breaks in exactly the terrain this problem targets.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19088"/>
            <a:ext cx="3657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5F7068"/>
                </a:solidFill>
                <a:latin typeface="Calibri"/>
              </a:rPr>
              <a:t>safetrail  ·  Data Structures course project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54335" y="6419088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0" i="0">
                <a:solidFill>
                  <a:srgbClr val="5F7068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02336"/>
            <a:ext cx="1091153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4F7B3F"/>
                </a:solidFill>
                <a:latin typeface="Calibri"/>
              </a:rPr>
              <a:t>WHAT DRIVES THE FEATURE 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11535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300" b="1" i="0">
                <a:solidFill>
                  <a:srgbClr val="0F2620"/>
                </a:solidFill>
                <a:latin typeface="Cambria"/>
              </a:rPr>
              <a:t>Eleven gaps, every one a data-structures problem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55648"/>
            <a:ext cx="3502152" cy="978408"/>
          </a:xfrm>
          <a:prstGeom prst="roundRect">
            <a:avLst>
              <a:gd name="adj" fmla="val 7000"/>
            </a:avLst>
          </a:prstGeom>
          <a:solidFill>
            <a:srgbClr val="ED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841247" y="1901952"/>
            <a:ext cx="310896" cy="310896"/>
          </a:xfrm>
          <a:prstGeom prst="ellipse">
            <a:avLst/>
          </a:prstGeom>
          <a:solidFill>
            <a:srgbClr val="4F7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43584" y="1901952"/>
            <a:ext cx="26974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100" b="1" i="0">
                <a:solidFill>
                  <a:srgbClr val="0F2620"/>
                </a:solidFill>
                <a:latin typeface="Calibri"/>
              </a:rPr>
              <a:t>Position treated as an exact point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2286000"/>
            <a:ext cx="31089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5F7068"/>
                </a:solidFill>
                <a:latin typeface="Calibri"/>
              </a:rPr>
              <a:t>Answer Inside / Outside / Uncertain from an accuracy radius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755648"/>
            <a:ext cx="3502152" cy="978408"/>
          </a:xfrm>
          <a:prstGeom prst="roundRect">
            <a:avLst>
              <a:gd name="adj" fmla="val 7000"/>
            </a:avLst>
          </a:prstGeom>
          <a:solidFill>
            <a:srgbClr val="ED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4544568" y="1901952"/>
            <a:ext cx="310896" cy="310896"/>
          </a:xfrm>
          <a:prstGeom prst="ellipse">
            <a:avLst/>
          </a:prstGeom>
          <a:solidFill>
            <a:srgbClr val="4F7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46904" y="1901952"/>
            <a:ext cx="26974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100" b="1" i="0">
                <a:solidFill>
                  <a:srgbClr val="0F2620"/>
                </a:solidFill>
                <a:latin typeface="Calibri"/>
              </a:rPr>
              <a:t>Alerts fire on entry — too late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44568" y="2286000"/>
            <a:ext cx="31089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5F7068"/>
                </a:solidFill>
                <a:latin typeface="Calibri"/>
              </a:rPr>
              <a:t>Project the trajectory and give a time-to-boundary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19" y="1755648"/>
            <a:ext cx="3502152" cy="978408"/>
          </a:xfrm>
          <a:prstGeom prst="roundRect">
            <a:avLst>
              <a:gd name="adj" fmla="val 7000"/>
            </a:avLst>
          </a:prstGeom>
          <a:solidFill>
            <a:srgbClr val="ED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8247888" y="1901952"/>
            <a:ext cx="310896" cy="310896"/>
          </a:xfrm>
          <a:prstGeom prst="ellipse">
            <a:avLst/>
          </a:prstGeom>
          <a:solidFill>
            <a:srgbClr val="4F7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50224" y="1901952"/>
            <a:ext cx="26974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100" b="1" i="0">
                <a:solidFill>
                  <a:srgbClr val="0F2620"/>
                </a:solidFill>
                <a:latin typeface="Calibri"/>
              </a:rPr>
              <a:t>Zones are static; risk is not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47888" y="2286000"/>
            <a:ext cx="31089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5F7068"/>
                </a:solidFill>
                <a:latin typeface="Calibri"/>
              </a:rPr>
              <a:t>Validity windows, plus a history you can query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2862072"/>
            <a:ext cx="3502152" cy="978408"/>
          </a:xfrm>
          <a:prstGeom prst="roundRect">
            <a:avLst>
              <a:gd name="adj" fmla="val 7000"/>
            </a:avLst>
          </a:prstGeom>
          <a:solidFill>
            <a:srgbClr val="ED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841247" y="3008376"/>
            <a:ext cx="310896" cy="310896"/>
          </a:xfrm>
          <a:prstGeom prst="ellipse">
            <a:avLst/>
          </a:prstGeom>
          <a:solidFill>
            <a:srgbClr val="4F7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43584" y="3008376"/>
            <a:ext cx="26974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100" b="1" i="0">
                <a:solidFill>
                  <a:srgbClr val="0F2620"/>
                </a:solidFill>
                <a:latin typeface="Calibri"/>
              </a:rPr>
              <a:t>Tourists tracked as individuals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7" y="3392424"/>
            <a:ext cx="31089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5F7068"/>
                </a:solidFill>
                <a:latin typeface="Calibri"/>
              </a:rPr>
              <a:t>They move in groups: splits and stragglers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43400" y="2862072"/>
            <a:ext cx="3502152" cy="978408"/>
          </a:xfrm>
          <a:prstGeom prst="roundRect">
            <a:avLst>
              <a:gd name="adj" fmla="val 7000"/>
            </a:avLst>
          </a:prstGeom>
          <a:solidFill>
            <a:srgbClr val="ED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Oval 20"/>
          <p:cNvSpPr/>
          <p:nvPr/>
        </p:nvSpPr>
        <p:spPr>
          <a:xfrm>
            <a:off x="4544568" y="3008376"/>
            <a:ext cx="310896" cy="310896"/>
          </a:xfrm>
          <a:prstGeom prst="ellipse">
            <a:avLst/>
          </a:prstGeom>
          <a:solidFill>
            <a:srgbClr val="4F7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46904" y="3008376"/>
            <a:ext cx="26974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100" b="1" i="0">
                <a:solidFill>
                  <a:srgbClr val="0F2620"/>
                </a:solidFill>
                <a:latin typeface="Calibri"/>
              </a:rPr>
              <a:t>One event, forty alert cards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44568" y="3392424"/>
            <a:ext cx="31089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5F7068"/>
                </a:solidFill>
                <a:latin typeface="Calibri"/>
              </a:rPr>
              <a:t>Correlate alerts into a single incident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46719" y="2862072"/>
            <a:ext cx="3502152" cy="978408"/>
          </a:xfrm>
          <a:prstGeom prst="roundRect">
            <a:avLst>
              <a:gd name="adj" fmla="val 7000"/>
            </a:avLst>
          </a:prstGeom>
          <a:solidFill>
            <a:srgbClr val="ED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Oval 24"/>
          <p:cNvSpPr/>
          <p:nvPr/>
        </p:nvSpPr>
        <p:spPr>
          <a:xfrm>
            <a:off x="8247888" y="3008376"/>
            <a:ext cx="310896" cy="310896"/>
          </a:xfrm>
          <a:prstGeom prst="ellipse">
            <a:avLst/>
          </a:prstGeom>
          <a:solidFill>
            <a:srgbClr val="4F7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50224" y="3008376"/>
            <a:ext cx="26974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100" b="1" i="0">
                <a:solidFill>
                  <a:srgbClr val="0F2620"/>
                </a:solidFill>
                <a:latin typeface="Calibri"/>
              </a:rPr>
              <a:t>“Offline-first” that only queues requests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47888" y="3392424"/>
            <a:ext cx="31089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5F7068"/>
                </a:solidFill>
                <a:latin typeface="Calibri"/>
              </a:rPr>
              <a:t>Ship the index to the device, merge on reconnect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3968496"/>
            <a:ext cx="3502152" cy="978408"/>
          </a:xfrm>
          <a:prstGeom prst="roundRect">
            <a:avLst>
              <a:gd name="adj" fmla="val 7000"/>
            </a:avLst>
          </a:prstGeom>
          <a:solidFill>
            <a:srgbClr val="ED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Oval 28"/>
          <p:cNvSpPr/>
          <p:nvPr/>
        </p:nvSpPr>
        <p:spPr>
          <a:xfrm>
            <a:off x="841247" y="4114800"/>
            <a:ext cx="310896" cy="310896"/>
          </a:xfrm>
          <a:prstGeom prst="ellipse">
            <a:avLst/>
          </a:prstGeom>
          <a:solidFill>
            <a:srgbClr val="4F7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43584" y="4114800"/>
            <a:ext cx="26974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100" b="1" i="0">
                <a:solidFill>
                  <a:srgbClr val="0F2620"/>
                </a:solidFill>
                <a:latin typeface="Calibri"/>
              </a:rPr>
              <a:t>Continuous GPS polling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7" y="4498848"/>
            <a:ext cx="31089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5F7068"/>
                </a:solidFill>
                <a:latin typeface="Calibri"/>
              </a:rPr>
              <a:t>Sample as a function of distance to the nearest hazard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343400" y="3968496"/>
            <a:ext cx="3502152" cy="978408"/>
          </a:xfrm>
          <a:prstGeom prst="roundRect">
            <a:avLst>
              <a:gd name="adj" fmla="val 7000"/>
            </a:avLst>
          </a:prstGeom>
          <a:solidFill>
            <a:srgbClr val="ED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Oval 32"/>
          <p:cNvSpPr/>
          <p:nvPr/>
        </p:nvSpPr>
        <p:spPr>
          <a:xfrm>
            <a:off x="4544568" y="4114800"/>
            <a:ext cx="310896" cy="310896"/>
          </a:xfrm>
          <a:prstGeom prst="ellipse">
            <a:avLst/>
          </a:prstGeom>
          <a:solidFill>
            <a:srgbClr val="4F7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946904" y="4114800"/>
            <a:ext cx="26974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100" b="1" i="0">
                <a:solidFill>
                  <a:srgbClr val="0F2620"/>
                </a:solidFill>
                <a:latin typeface="Calibri"/>
              </a:rPr>
              <a:t>Drift makes fences flap all day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44568" y="4498848"/>
            <a:ext cx="31089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5F7068"/>
                </a:solidFill>
                <a:latin typeface="Calibri"/>
              </a:rPr>
              <a:t>A hysteresis state machine with separate thresholds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046719" y="3968496"/>
            <a:ext cx="3502152" cy="978408"/>
          </a:xfrm>
          <a:prstGeom prst="roundRect">
            <a:avLst>
              <a:gd name="adj" fmla="val 7000"/>
            </a:avLst>
          </a:prstGeom>
          <a:solidFill>
            <a:srgbClr val="ED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Oval 36"/>
          <p:cNvSpPr/>
          <p:nvPr/>
        </p:nvSpPr>
        <p:spPr>
          <a:xfrm>
            <a:off x="8247888" y="4114800"/>
            <a:ext cx="310896" cy="310896"/>
          </a:xfrm>
          <a:prstGeom prst="ellipse">
            <a:avLst/>
          </a:prstGeom>
          <a:solidFill>
            <a:srgbClr val="4F7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50224" y="4114800"/>
            <a:ext cx="26974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100" b="1" i="0">
                <a:solidFill>
                  <a:srgbClr val="0F2620"/>
                </a:solidFill>
                <a:latin typeface="Calibri"/>
              </a:rPr>
              <a:t>Ethereum for a tamper-proof log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47888" y="4498848"/>
            <a:ext cx="31089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5F7068"/>
                </a:solidFill>
                <a:latin typeface="Calibri"/>
              </a:rPr>
              <a:t>A Merkle log gives the same property, offline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0080" y="5074920"/>
            <a:ext cx="3502152" cy="978408"/>
          </a:xfrm>
          <a:prstGeom prst="roundRect">
            <a:avLst>
              <a:gd name="adj" fmla="val 7000"/>
            </a:avLst>
          </a:prstGeom>
          <a:solidFill>
            <a:srgbClr val="ED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Oval 40"/>
          <p:cNvSpPr/>
          <p:nvPr/>
        </p:nvSpPr>
        <p:spPr>
          <a:xfrm>
            <a:off x="841247" y="5221224"/>
            <a:ext cx="310896" cy="310896"/>
          </a:xfrm>
          <a:prstGeom prst="ellipse">
            <a:avLst/>
          </a:prstGeom>
          <a:solidFill>
            <a:srgbClr val="4F7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43584" y="5221224"/>
            <a:ext cx="26974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100" b="1" i="0">
                <a:solidFill>
                  <a:srgbClr val="0F2620"/>
                </a:solidFill>
                <a:latin typeface="Calibri"/>
              </a:rPr>
              <a:t>Hand-drawn zones, no validation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1247" y="5605272"/>
            <a:ext cx="31089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5F7068"/>
                </a:solidFill>
                <a:latin typeface="Calibri"/>
              </a:rPr>
              <a:t>Sweep-line self-intersection detection at authoring time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343400" y="5074920"/>
            <a:ext cx="3502152" cy="978408"/>
          </a:xfrm>
          <a:prstGeom prst="roundRect">
            <a:avLst>
              <a:gd name="adj" fmla="val 7000"/>
            </a:avLst>
          </a:prstGeom>
          <a:solidFill>
            <a:srgbClr val="ED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Oval 44"/>
          <p:cNvSpPr/>
          <p:nvPr/>
        </p:nvSpPr>
        <p:spPr>
          <a:xfrm>
            <a:off x="4544568" y="5221224"/>
            <a:ext cx="310896" cy="310896"/>
          </a:xfrm>
          <a:prstGeom prst="ellipse">
            <a:avLst/>
          </a:prstGeom>
          <a:solidFill>
            <a:srgbClr val="4F7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11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946904" y="5221224"/>
            <a:ext cx="26974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100" b="1" i="0">
                <a:solidFill>
                  <a:srgbClr val="0F2620"/>
                </a:solidFill>
                <a:latin typeface="Calibri"/>
              </a:rPr>
              <a:t>Nobody owns a cross-district alert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44568" y="5605272"/>
            <a:ext cx="31089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5F7068"/>
                </a:solidFill>
                <a:latin typeface="Calibri"/>
              </a:rPr>
              <a:t>Resolve jurisdiction from nested boundaries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0080" y="6419088"/>
            <a:ext cx="3657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5F7068"/>
                </a:solidFill>
                <a:latin typeface="Calibri"/>
              </a:rPr>
              <a:t>safetrail  ·  Data Structures course project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454335" y="6419088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0" i="0">
                <a:solidFill>
                  <a:srgbClr val="5F7068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02336"/>
            <a:ext cx="1091153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4F7B3F"/>
                </a:solidFill>
                <a:latin typeface="Calibri"/>
              </a:rPr>
              <a:t>SCOPE DISCIPLINE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11535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300" b="1" i="0">
                <a:solidFill>
                  <a:srgbClr val="0F2620"/>
                </a:solidFill>
                <a:latin typeface="Cambria"/>
              </a:rPr>
              <a:t>What we deliberately do not build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26464"/>
            <a:ext cx="1091153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5F7068"/>
                </a:solidFill>
                <a:latin typeface="Calibri"/>
              </a:rPr>
              <a:t>Feature count is not the deliverable. Every omission is a trade we can defend.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84831"/>
            <a:ext cx="5358384" cy="914400"/>
          </a:xfrm>
          <a:prstGeom prst="roundRect">
            <a:avLst>
              <a:gd name="adj" fmla="val 7000"/>
            </a:avLst>
          </a:prstGeom>
          <a:solidFill>
            <a:srgbClr val="ED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14400" y="2240279"/>
            <a:ext cx="480974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0F2620"/>
                </a:solidFill>
                <a:latin typeface="Calibri"/>
              </a:rPr>
              <a:t>Mobile app</a:t>
            </a:r>
          </a:p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5F7068"/>
                </a:solidFill>
                <a:latin typeface="Calibri"/>
              </a:rPr>
              <a:t>Simulated tourists give reproducible, replayable runs — and ground truth.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0488" y="2084831"/>
            <a:ext cx="5358384" cy="914400"/>
          </a:xfrm>
          <a:prstGeom prst="roundRect">
            <a:avLst>
              <a:gd name="adj" fmla="val 7000"/>
            </a:avLst>
          </a:prstGeom>
          <a:solidFill>
            <a:srgbClr val="ED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464808" y="2240279"/>
            <a:ext cx="480974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0F2620"/>
                </a:solidFill>
                <a:latin typeface="Calibri"/>
              </a:rPr>
              <a:t>e-FIR workflow</a:t>
            </a:r>
          </a:p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5F7068"/>
                </a:solidFill>
                <a:latin typeface="Calibri"/>
              </a:rPr>
              <a:t>Forms and paperwork routing. No algorithmic content.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145535"/>
            <a:ext cx="5358384" cy="914400"/>
          </a:xfrm>
          <a:prstGeom prst="roundRect">
            <a:avLst>
              <a:gd name="adj" fmla="val 7000"/>
            </a:avLst>
          </a:prstGeom>
          <a:solidFill>
            <a:srgbClr val="ED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914400" y="3300983"/>
            <a:ext cx="480974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0F2620"/>
                </a:solidFill>
                <a:latin typeface="Calibri"/>
              </a:rPr>
              <a:t>LSTM anomaly detection</a:t>
            </a:r>
          </a:p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5F7068"/>
                </a:solidFill>
                <a:latin typeface="Calibri"/>
              </a:rPr>
              <a:t>A black box we cannot analyse. We detect geometrically instead.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3145535"/>
            <a:ext cx="5358384" cy="914400"/>
          </a:xfrm>
          <a:prstGeom prst="roundRect">
            <a:avLst>
              <a:gd name="adj" fmla="val 7000"/>
            </a:avLst>
          </a:prstGeom>
          <a:solidFill>
            <a:srgbClr val="ED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464808" y="3300983"/>
            <a:ext cx="480974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0F2620"/>
                </a:solidFill>
                <a:latin typeface="Calibri"/>
              </a:rPr>
              <a:t>A real blockchain</a:t>
            </a:r>
          </a:p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5F7068"/>
                </a:solidFill>
                <a:latin typeface="Calibri"/>
              </a:rPr>
              <a:t>A Merkle log gives the tamper-evidence with no chain, no network.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206240"/>
            <a:ext cx="5358384" cy="914400"/>
          </a:xfrm>
          <a:prstGeom prst="roundRect">
            <a:avLst>
              <a:gd name="adj" fmla="val 7000"/>
            </a:avLst>
          </a:prstGeom>
          <a:solidFill>
            <a:srgbClr val="ED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14400" y="4361688"/>
            <a:ext cx="480974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0F2620"/>
                </a:solidFill>
                <a:latin typeface="Calibri"/>
              </a:rPr>
              <a:t>SMS, auth, role-based access</a:t>
            </a:r>
          </a:p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5F7068"/>
                </a:solidFill>
                <a:latin typeface="Calibri"/>
              </a:rPr>
              <a:t>Standard web plumbing, irrelevant to the course.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0488" y="4206240"/>
            <a:ext cx="5358384" cy="914400"/>
          </a:xfrm>
          <a:prstGeom prst="roundRect">
            <a:avLst>
              <a:gd name="adj" fmla="val 7000"/>
            </a:avLst>
          </a:prstGeom>
          <a:solidFill>
            <a:srgbClr val="ED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464808" y="4361688"/>
            <a:ext cx="480974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0F2620"/>
                </a:solidFill>
                <a:latin typeface="Calibri"/>
              </a:rPr>
              <a:t>A live server</a:t>
            </a:r>
          </a:p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5F7068"/>
                </a:solidFill>
                <a:latin typeface="Calibri"/>
              </a:rPr>
              <a:t>The engine emits one self-contained HTML file. Nothing to host.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266944"/>
            <a:ext cx="10911535" cy="914400"/>
          </a:xfrm>
          <a:prstGeom prst="roundRect">
            <a:avLst>
              <a:gd name="adj" fmla="val 7000"/>
            </a:avLst>
          </a:prstGeom>
          <a:solidFill>
            <a:srgbClr val="F6E6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14400" y="5431536"/>
            <a:ext cx="1036289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A3521A"/>
                </a:solidFill>
                <a:latin typeface="Calibri"/>
              </a:rPr>
              <a:t>PostGIS</a:t>
            </a:r>
          </a:p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6B4324"/>
                </a:solidFill>
                <a:latin typeface="Calibri"/>
              </a:rPr>
              <a:t>This one is the entire point. The spatial index is the thing being graded, so the spatial index is ours.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419088"/>
            <a:ext cx="3657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5F7068"/>
                </a:solidFill>
                <a:latin typeface="Calibri"/>
              </a:rPr>
              <a:t>safetrail  ·  Data Structures course project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54335" y="6419088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0" i="0">
                <a:solidFill>
                  <a:srgbClr val="5F7068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6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02336"/>
            <a:ext cx="1091153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7FB069"/>
                </a:solidFill>
                <a:latin typeface="Calibri"/>
              </a:rPr>
              <a:t>PART TWO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74519"/>
            <a:ext cx="8686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Cambria"/>
              </a:rPr>
              <a:t>How it is put together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71800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9FB3A8"/>
                </a:solidFill>
                <a:latin typeface="Calibri"/>
              </a:rPr>
              <a:t>Layers, the one function that carries the system, and the path a position takes to the screen.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4114800"/>
            <a:ext cx="3502152" cy="1371600"/>
          </a:xfrm>
          <a:prstGeom prst="roundRect">
            <a:avLst>
              <a:gd name="adj" fmla="val 7000"/>
            </a:avLst>
          </a:prstGeom>
          <a:solidFill>
            <a:srgbClr val="1B3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32688" y="4315968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E8833A"/>
                </a:solidFill>
                <a:latin typeface="Cambria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489204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  <a:latin typeface="Calibri"/>
              </a:rPr>
              <a:t>Five layers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4114800"/>
            <a:ext cx="3502152" cy="1371600"/>
          </a:xfrm>
          <a:prstGeom prst="roundRect">
            <a:avLst>
              <a:gd name="adj" fmla="val 7000"/>
            </a:avLst>
          </a:prstGeom>
          <a:solidFill>
            <a:srgbClr val="1B3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4636008" y="4315968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E8833A"/>
                </a:solidFill>
                <a:latin typeface="Cambria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36008" y="489204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  <a:latin typeface="Calibri"/>
              </a:rPr>
              <a:t>The hot loop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19" y="4114800"/>
            <a:ext cx="3502152" cy="1371600"/>
          </a:xfrm>
          <a:prstGeom prst="roundRect">
            <a:avLst>
              <a:gd name="adj" fmla="val 7000"/>
            </a:avLst>
          </a:prstGeom>
          <a:solidFill>
            <a:srgbClr val="1B3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339327" y="4315968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E8833A"/>
                </a:solidFill>
                <a:latin typeface="Cambria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39327" y="489204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  <a:latin typeface="Calibri"/>
              </a:rPr>
              <a:t>The data flow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19088"/>
            <a:ext cx="3657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9FB3A8"/>
                </a:solidFill>
                <a:latin typeface="Calibri"/>
              </a:rPr>
              <a:t>safetrail  ·  Data Structures course project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54335" y="6419088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0" i="0">
                <a:solidFill>
                  <a:srgbClr val="9FB3A8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02336"/>
            <a:ext cx="1091153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4F7B3F"/>
                </a:solidFill>
                <a:latin typeface="Calibri"/>
              </a:rP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11535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300" b="1" i="0">
                <a:solidFill>
                  <a:srgbClr val="0F2620"/>
                </a:solidFill>
                <a:latin typeface="Cambria"/>
              </a:rPr>
              <a:t>Five layers, and dependencies point downward only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91640"/>
            <a:ext cx="10911535" cy="713232"/>
          </a:xfrm>
          <a:prstGeom prst="roundRect">
            <a:avLst>
              <a:gd name="adj" fmla="val 7000"/>
            </a:avLst>
          </a:prstGeom>
          <a:solidFill>
            <a:srgbClr val="ED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32688" y="1828800"/>
            <a:ext cx="3200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0F2620"/>
                </a:solidFill>
                <a:latin typeface="Courier New"/>
              </a:rPr>
              <a:t>web/</a:t>
            </a:r>
          </a:p>
          <a:p>
            <a:pPr algn="l"/>
            <a:r>
              <a:rPr sz="950" b="0" i="0">
                <a:solidFill>
                  <a:srgbClr val="5F7068"/>
                </a:solidFill>
                <a:latin typeface="Calibri"/>
              </a:rPr>
              <a:t>viewer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97680" y="1911095"/>
            <a:ext cx="688817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5F7068"/>
                </a:solidFill>
                <a:latin typeface="Calibri"/>
              </a:rPr>
              <a:t>dashboard.html and the zone editor — a hand-drawn canvas map, no Leaflet, no tile server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532888"/>
            <a:ext cx="10911535" cy="713232"/>
          </a:xfrm>
          <a:prstGeom prst="roundRect">
            <a:avLst>
              <a:gd name="adj" fmla="val 7000"/>
            </a:avLst>
          </a:prstGeom>
          <a:solidFill>
            <a:srgbClr val="ED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670048"/>
            <a:ext cx="3200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0F2620"/>
                </a:solidFill>
                <a:latin typeface="Courier New"/>
              </a:rPr>
              <a:t>apps/</a:t>
            </a:r>
          </a:p>
          <a:p>
            <a:pPr algn="l"/>
            <a:r>
              <a:rPr sz="950" b="0" i="0">
                <a:solidFill>
                  <a:srgbClr val="5F7068"/>
                </a:solidFill>
                <a:latin typeface="Calibri"/>
              </a:rPr>
              <a:t>binaries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2752344"/>
            <a:ext cx="688817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5F7068"/>
                </a:solidFill>
                <a:latin typeface="Calibri"/>
              </a:rPr>
              <a:t>safetrail_headless (demo + dashboard export)  ·  safetrail_bench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374136"/>
            <a:ext cx="10911535" cy="713232"/>
          </a:xfrm>
          <a:prstGeom prst="roundRect">
            <a:avLst>
              <a:gd name="adj" fmla="val 7000"/>
            </a:avLst>
          </a:prstGeom>
          <a:solidFill>
            <a:srgbClr val="ED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3511296"/>
            <a:ext cx="3200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0F2620"/>
                </a:solidFill>
                <a:latin typeface="Courier New"/>
              </a:rPr>
              <a:t>sim/</a:t>
            </a:r>
          </a:p>
          <a:p>
            <a:pPr algn="l"/>
            <a:r>
              <a:rPr sz="950" b="0" i="0">
                <a:solidFill>
                  <a:srgbClr val="5F7068"/>
                </a:solidFill>
                <a:latin typeface="Calibri"/>
              </a:rPr>
              <a:t>the harness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3593592"/>
            <a:ext cx="688817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5F7068"/>
                </a:solidFill>
                <a:latin typeface="Calibri"/>
              </a:rPr>
              <a:t>tick loop, mobility models, GPS error injection, deterministic replay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215384"/>
            <a:ext cx="10911535" cy="713232"/>
          </a:xfrm>
          <a:prstGeom prst="roundRect">
            <a:avLst>
              <a:gd name="adj" fmla="val 7000"/>
            </a:avLst>
          </a:prstGeom>
          <a:solidFill>
            <a:srgbClr val="DCE7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4352544"/>
            <a:ext cx="3200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0F2620"/>
                </a:solidFill>
                <a:latin typeface="Courier New"/>
              </a:rPr>
              <a:t>domain/</a:t>
            </a:r>
          </a:p>
          <a:p>
            <a:pPr algn="l"/>
            <a:r>
              <a:rPr sz="950" b="0" i="0">
                <a:solidFill>
                  <a:srgbClr val="44584D"/>
                </a:solidFill>
                <a:latin typeface="Calibri"/>
              </a:rPr>
              <a:t>the product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4434840"/>
            <a:ext cx="688817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44584D"/>
                </a:solidFill>
                <a:latin typeface="Calibri"/>
              </a:rPr>
              <a:t>fence  ·  track  ·  group  ·  alert  ·  dispatch  ·  sync  ·  power  ·  evidence  ·  jurisdiction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5056632"/>
            <a:ext cx="10911535" cy="713232"/>
          </a:xfrm>
          <a:prstGeom prst="roundRect">
            <a:avLst>
              <a:gd name="adj" fmla="val 7000"/>
            </a:avLst>
          </a:prstGeom>
          <a:solidFill>
            <a:srgbClr val="0F26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5193792"/>
            <a:ext cx="3200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7FB069"/>
                </a:solidFill>
                <a:latin typeface="Courier New"/>
              </a:rPr>
              <a:t>geo/  index/  ds/  graph/</a:t>
            </a:r>
          </a:p>
          <a:p>
            <a:pPr algn="l"/>
            <a:r>
              <a:rPr sz="950" b="0" i="0">
                <a:solidFill>
                  <a:srgbClr val="C8D8CE"/>
                </a:solidFill>
                <a:latin typeface="Calibri"/>
              </a:rPr>
              <a:t>the graded core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5276088"/>
            <a:ext cx="688817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C8D8CE"/>
                </a:solidFill>
                <a:latin typeface="Calibri"/>
              </a:rPr>
              <a:t>geometry  ·  spatial indexes  ·  general structures  ·  routing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016752"/>
            <a:ext cx="1091153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5F7068"/>
                </a:solidFill>
                <a:latin typeface="Calibri"/>
              </a:rPr>
              <a:t>geo/ and ds/ depend on nothing but types.hpp — which is what lets every structure be tested on its own.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19088"/>
            <a:ext cx="3657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5F7068"/>
                </a:solidFill>
                <a:latin typeface="Calibri"/>
              </a:rPr>
              <a:t>safetrail  ·  Data Structures course project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54335" y="6419088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0" i="0">
                <a:solidFill>
                  <a:srgbClr val="5F7068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02336"/>
            <a:ext cx="1091153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4F7B3F"/>
                </a:solidFill>
                <a:latin typeface="Calibri"/>
              </a:rPr>
              <a:t>THE HOT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11535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300" b="1" i="0">
                <a:solidFill>
                  <a:srgbClr val="0F2620"/>
                </a:solidFill>
                <a:latin typeface="Cambria"/>
              </a:rPr>
              <a:t>One function, eight steps, per tourist per tick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26464"/>
            <a:ext cx="1091153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5F7068"/>
                </a:solidFill>
                <a:latin typeface="Calibri"/>
              </a:rPr>
              <a:t>fence::Evaluator::evaluate() — everything else in the codebase is scaffolding around it.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11680"/>
            <a:ext cx="5358384" cy="749808"/>
          </a:xfrm>
          <a:prstGeom prst="roundRect">
            <a:avLst>
              <a:gd name="adj" fmla="val 7000"/>
            </a:avLst>
          </a:prstGeom>
          <a:solidFill>
            <a:srgbClr val="ED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Oval 5"/>
          <p:cNvSpPr/>
          <p:nvPr/>
        </p:nvSpPr>
        <p:spPr>
          <a:xfrm>
            <a:off x="877824" y="2203704"/>
            <a:ext cx="365760" cy="365760"/>
          </a:xfrm>
          <a:prstGeom prst="ellipse">
            <a:avLst/>
          </a:prstGeom>
          <a:solidFill>
            <a:srgbClr val="4F7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53312" y="2139696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0F2620"/>
                </a:solidFill>
                <a:latin typeface="Calibri"/>
              </a:rPr>
              <a:t>usability gate</a:t>
            </a:r>
          </a:p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5F7068"/>
                </a:solidFill>
                <a:latin typeface="Calibri"/>
              </a:rPr>
              <a:t>reject fixes too noisy to mean anything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6280" y="2267712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0" i="0">
                <a:solidFill>
                  <a:srgbClr val="4F7B3F"/>
                </a:solidFill>
                <a:latin typeface="Courier New"/>
              </a:rPr>
              <a:t>O(1)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880360"/>
            <a:ext cx="5358384" cy="749808"/>
          </a:xfrm>
          <a:prstGeom prst="roundRect">
            <a:avLst>
              <a:gd name="adj" fmla="val 7000"/>
            </a:avLst>
          </a:prstGeom>
          <a:solidFill>
            <a:srgbClr val="ED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877824" y="3072384"/>
            <a:ext cx="365760" cy="365760"/>
          </a:xfrm>
          <a:prstGeom prst="ellipse">
            <a:avLst/>
          </a:prstGeom>
          <a:solidFill>
            <a:srgbClr val="4F7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53312" y="3008376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0F2620"/>
                </a:solidFill>
                <a:latin typeface="Calibri"/>
              </a:rPr>
              <a:t>adaptive sampling</a:t>
            </a:r>
          </a:p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5F7068"/>
                </a:solidFill>
                <a:latin typeface="Calibri"/>
              </a:rPr>
              <a:t>should we even take a fix right now?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3136392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0" i="0">
                <a:solidFill>
                  <a:srgbClr val="4F7B3F"/>
                </a:solidFill>
                <a:latin typeface="Courier New"/>
              </a:rPr>
              <a:t>O(1)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749039"/>
            <a:ext cx="5358384" cy="749808"/>
          </a:xfrm>
          <a:prstGeom prst="roundRect">
            <a:avLst>
              <a:gd name="adj" fmla="val 7000"/>
            </a:avLst>
          </a:prstGeom>
          <a:solidFill>
            <a:srgbClr val="DCE7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Oval 13"/>
          <p:cNvSpPr/>
          <p:nvPr/>
        </p:nvSpPr>
        <p:spPr>
          <a:xfrm>
            <a:off x="877824" y="3941063"/>
            <a:ext cx="365760" cy="365760"/>
          </a:xfrm>
          <a:prstGeom prst="ellipse">
            <a:avLst/>
          </a:prstGeom>
          <a:solidFill>
            <a:srgbClr val="E88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2" y="3877055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0F2620"/>
                </a:solidFill>
                <a:latin typeface="Calibri"/>
              </a:rPr>
              <a:t>spatial prune</a:t>
            </a:r>
          </a:p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5F7068"/>
                </a:solidFill>
                <a:latin typeface="Calibri"/>
              </a:rPr>
              <a:t>100k zones down to a handful of candidates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4005072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0" i="0">
                <a:solidFill>
                  <a:srgbClr val="4F7B3F"/>
                </a:solidFill>
                <a:latin typeface="Courier New"/>
              </a:rPr>
              <a:t>O(log n + k)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617720"/>
            <a:ext cx="5358384" cy="749808"/>
          </a:xfrm>
          <a:prstGeom prst="roundRect">
            <a:avLst>
              <a:gd name="adj" fmla="val 7000"/>
            </a:avLst>
          </a:prstGeom>
          <a:solidFill>
            <a:srgbClr val="ED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Oval 17"/>
          <p:cNvSpPr/>
          <p:nvPr/>
        </p:nvSpPr>
        <p:spPr>
          <a:xfrm>
            <a:off x="877824" y="4809744"/>
            <a:ext cx="365760" cy="365760"/>
          </a:xfrm>
          <a:prstGeom prst="ellipse">
            <a:avLst/>
          </a:prstGeom>
          <a:solidFill>
            <a:srgbClr val="4F7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53312" y="4745736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0F2620"/>
                </a:solidFill>
                <a:latin typeface="Calibri"/>
              </a:rPr>
              <a:t>temporal prune</a:t>
            </a:r>
          </a:p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5F7068"/>
                </a:solidFill>
                <a:latin typeface="Calibri"/>
              </a:rPr>
              <a:t>of those, which are in force right now?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6280" y="4873752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0" i="0">
                <a:solidFill>
                  <a:srgbClr val="4F7B3F"/>
                </a:solidFill>
                <a:latin typeface="Courier New"/>
              </a:rPr>
              <a:t>O(log n + k)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0488" y="2011680"/>
            <a:ext cx="5358384" cy="749808"/>
          </a:xfrm>
          <a:prstGeom prst="roundRect">
            <a:avLst>
              <a:gd name="adj" fmla="val 7000"/>
            </a:avLst>
          </a:prstGeom>
          <a:solidFill>
            <a:srgbClr val="ED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Oval 21"/>
          <p:cNvSpPr/>
          <p:nvPr/>
        </p:nvSpPr>
        <p:spPr>
          <a:xfrm>
            <a:off x="6428232" y="2203704"/>
            <a:ext cx="365760" cy="365760"/>
          </a:xfrm>
          <a:prstGeom prst="ellipse">
            <a:avLst/>
          </a:prstGeom>
          <a:solidFill>
            <a:srgbClr val="4F7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03720" y="2139696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0F2620"/>
                </a:solidFill>
                <a:latin typeface="Calibri"/>
              </a:rPr>
              <a:t>exact geometry</a:t>
            </a:r>
          </a:p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5F7068"/>
                </a:solidFill>
                <a:latin typeface="Calibri"/>
              </a:rPr>
              <a:t>three-valued containment per candidate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76688" y="2267712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0" i="0">
                <a:solidFill>
                  <a:srgbClr val="4F7B3F"/>
                </a:solidFill>
                <a:latin typeface="Courier New"/>
              </a:rPr>
              <a:t>O(k·V)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90488" y="2880360"/>
            <a:ext cx="5358384" cy="749808"/>
          </a:xfrm>
          <a:prstGeom prst="roundRect">
            <a:avLst>
              <a:gd name="adj" fmla="val 7000"/>
            </a:avLst>
          </a:prstGeom>
          <a:solidFill>
            <a:srgbClr val="ED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Oval 25"/>
          <p:cNvSpPr/>
          <p:nvPr/>
        </p:nvSpPr>
        <p:spPr>
          <a:xfrm>
            <a:off x="6428232" y="3072384"/>
            <a:ext cx="365760" cy="365760"/>
          </a:xfrm>
          <a:prstGeom prst="ellipse">
            <a:avLst/>
          </a:prstGeom>
          <a:solidFill>
            <a:srgbClr val="4F7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03720" y="3008376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0F2620"/>
                </a:solidFill>
                <a:latin typeface="Calibri"/>
              </a:rPr>
              <a:t>hysteresis</a:t>
            </a:r>
          </a:p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5F7068"/>
                </a:solidFill>
                <a:latin typeface="Calibri"/>
              </a:rPr>
              <a:t>filter drift-induced flapping at the edge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76688" y="3136392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0" i="0">
                <a:solidFill>
                  <a:srgbClr val="4F7B3F"/>
                </a:solidFill>
                <a:latin typeface="Courier New"/>
              </a:rPr>
              <a:t>O(1)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90488" y="3749039"/>
            <a:ext cx="5358384" cy="749808"/>
          </a:xfrm>
          <a:prstGeom prst="roundRect">
            <a:avLst>
              <a:gd name="adj" fmla="val 7000"/>
            </a:avLst>
          </a:prstGeom>
          <a:solidFill>
            <a:srgbClr val="ED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Oval 29"/>
          <p:cNvSpPr/>
          <p:nvPr/>
        </p:nvSpPr>
        <p:spPr>
          <a:xfrm>
            <a:off x="6428232" y="3941063"/>
            <a:ext cx="365760" cy="365760"/>
          </a:xfrm>
          <a:prstGeom prst="ellipse">
            <a:avLst/>
          </a:prstGeom>
          <a:solidFill>
            <a:srgbClr val="4F7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03720" y="3877055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0F2620"/>
                </a:solidFill>
                <a:latin typeface="Calibri"/>
              </a:rPr>
              <a:t>transition diff</a:t>
            </a:r>
          </a:p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5F7068"/>
                </a:solidFill>
                <a:latin typeface="Calibri"/>
              </a:rPr>
              <a:t>states become EVENTS — the actual output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76688" y="4005072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0" i="0">
                <a:solidFill>
                  <a:srgbClr val="4F7B3F"/>
                </a:solidFill>
                <a:latin typeface="Courier New"/>
              </a:rPr>
              <a:t>O(k)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90488" y="4617720"/>
            <a:ext cx="5358384" cy="749808"/>
          </a:xfrm>
          <a:prstGeom prst="roundRect">
            <a:avLst>
              <a:gd name="adj" fmla="val 7000"/>
            </a:avLst>
          </a:prstGeom>
          <a:solidFill>
            <a:srgbClr val="ED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Oval 33"/>
          <p:cNvSpPr/>
          <p:nvPr/>
        </p:nvSpPr>
        <p:spPr>
          <a:xfrm>
            <a:off x="6428232" y="4809744"/>
            <a:ext cx="365760" cy="365760"/>
          </a:xfrm>
          <a:prstGeom prst="ellipse">
            <a:avLst/>
          </a:prstGeom>
          <a:solidFill>
            <a:srgbClr val="4F7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03720" y="4745736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0F2620"/>
                </a:solidFill>
                <a:latin typeface="Calibri"/>
              </a:rPr>
              <a:t>prediction</a:t>
            </a:r>
          </a:p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5F7068"/>
                </a:solidFill>
                <a:latin typeface="Calibri"/>
              </a:rPr>
              <a:t>where will they be, and does it cross?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76688" y="4873752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0" i="0">
                <a:solidFill>
                  <a:srgbClr val="4F7B3F"/>
                </a:solidFill>
                <a:latin typeface="Courier New"/>
              </a:rPr>
              <a:t>O(k·V)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" y="5541264"/>
            <a:ext cx="10911535" cy="786384"/>
          </a:xfrm>
          <a:prstGeom prst="roundRect">
            <a:avLst>
              <a:gd name="adj" fmla="val 7000"/>
            </a:avLst>
          </a:prstGeom>
          <a:solidFill>
            <a:srgbClr val="0F26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932688" y="5687568"/>
            <a:ext cx="1032631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50" b="0" i="0">
                <a:solidFill>
                  <a:srgbClr val="FFFFFF"/>
                </a:solidFill>
                <a:latin typeface="Calibri"/>
              </a:rPr>
              <a:t>Step 3 is the whole performance story — without it a tick is 200 tourists × 100,000 zones × 40 vertices ≈ 800 million operations; with it, roughly 27,000.</a:t>
            </a:r>
          </a:p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7FB069"/>
                </a:solidFill>
                <a:latin typeface="Calibri"/>
              </a:rPr>
              <a:t>Step 7 is where the bugs live: we emit transitions, never “still inside” repeated every tick.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" y="6419088"/>
            <a:ext cx="3657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5F7068"/>
                </a:solidFill>
                <a:latin typeface="Calibri"/>
              </a:rPr>
              <a:t>safetrail  ·  Data Structures course project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454335" y="6419088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0" i="0">
                <a:solidFill>
                  <a:srgbClr val="5F7068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6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02336"/>
            <a:ext cx="1091153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7FB069"/>
                </a:solidFill>
                <a:latin typeface="Calibri"/>
              </a:rPr>
              <a:t>DATA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11535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300" b="1" i="0">
                <a:solidFill>
                  <a:srgbClr val="FFFFFF"/>
                </a:solidFill>
                <a:latin typeface="Cambria"/>
              </a:rPr>
              <a:t>From real map data to one static file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83080"/>
            <a:ext cx="3502152" cy="1874519"/>
          </a:xfrm>
          <a:prstGeom prst="roundRect">
            <a:avLst>
              <a:gd name="adj" fmla="val 7000"/>
            </a:avLst>
          </a:prstGeom>
          <a:solidFill>
            <a:srgbClr val="1B3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914400" y="2039112"/>
            <a:ext cx="365760" cy="365760"/>
          </a:xfrm>
          <a:prstGeom prst="ellipse">
            <a:avLst/>
          </a:prstGeom>
          <a:solidFill>
            <a:srgbClr val="E88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50" b="1">
                <a:solidFill>
                  <a:srgbClr val="0F2620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89888" y="2103120"/>
            <a:ext cx="24688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mbria"/>
              </a:rPr>
              <a:t>Load and validate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560320"/>
            <a:ext cx="297180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CFDDD4"/>
                </a:solidFill>
                <a:latin typeface="Calibri"/>
              </a:rPr>
              <a:t>Real OpenStreetMap geography, read by our own JSON parser. Self-intersecting polygons are rejected at load time, so nothing downstream has to defend against them.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783080"/>
            <a:ext cx="3502152" cy="1874519"/>
          </a:xfrm>
          <a:prstGeom prst="roundRect">
            <a:avLst>
              <a:gd name="adj" fmla="val 7000"/>
            </a:avLst>
          </a:prstGeom>
          <a:solidFill>
            <a:srgbClr val="1B3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4617720" y="2039112"/>
            <a:ext cx="365760" cy="365760"/>
          </a:xfrm>
          <a:prstGeom prst="ellipse">
            <a:avLst/>
          </a:prstGeom>
          <a:solidFill>
            <a:srgbClr val="E88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50" b="1">
                <a:solidFill>
                  <a:srgbClr val="0F2620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93208" y="2103120"/>
            <a:ext cx="24688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mbria"/>
              </a:rPr>
              <a:t>Index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2560320"/>
            <a:ext cx="297180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CFDDD4"/>
                </a:solidFill>
                <a:latin typeface="Calibri"/>
              </a:rPr>
              <a:t>Every zone's bounding box goes into the quadtree and R-tree — and into a persistent quadtree that keeps every earlier version of the zone set alive.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19" y="1783080"/>
            <a:ext cx="3502152" cy="1874519"/>
          </a:xfrm>
          <a:prstGeom prst="roundRect">
            <a:avLst>
              <a:gd name="adj" fmla="val 7000"/>
            </a:avLst>
          </a:prstGeom>
          <a:solidFill>
            <a:srgbClr val="1B3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8321040" y="2039112"/>
            <a:ext cx="365760" cy="365760"/>
          </a:xfrm>
          <a:prstGeom prst="ellipse">
            <a:avLst/>
          </a:prstGeom>
          <a:solidFill>
            <a:srgbClr val="E88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50" b="1">
                <a:solidFill>
                  <a:srgbClr val="0F2620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96528" y="2103120"/>
            <a:ext cx="24688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mbria"/>
              </a:rPr>
              <a:t>Simulate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2560320"/>
            <a:ext cx="297180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CFDDD4"/>
                </a:solidFill>
                <a:latin typeface="Calibri"/>
              </a:rPr>
              <a:t>Tourists move under a seeded mobility model. A GPS error model turns the true position into a noisy fix. Only the noisy fix ever reaches the engine.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867911"/>
            <a:ext cx="3502152" cy="1874519"/>
          </a:xfrm>
          <a:prstGeom prst="roundRect">
            <a:avLst>
              <a:gd name="adj" fmla="val 7000"/>
            </a:avLst>
          </a:prstGeom>
          <a:solidFill>
            <a:srgbClr val="1B3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914400" y="4123944"/>
            <a:ext cx="365760" cy="365760"/>
          </a:xfrm>
          <a:prstGeom prst="ellipse">
            <a:avLst/>
          </a:prstGeom>
          <a:solidFill>
            <a:srgbClr val="E88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50" b="1">
                <a:solidFill>
                  <a:srgbClr val="0F2620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89888" y="4187951"/>
            <a:ext cx="24688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mbria"/>
              </a:rPr>
              <a:t>Evaluate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645151"/>
            <a:ext cx="297180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CFDDD4"/>
                </a:solidFill>
                <a:latin typeface="Calibri"/>
              </a:rPr>
              <a:t>Prune, test the geometry, filter the drift, diff against the previous tick. Output: Enter, Exit, Uncertain and Approaching events.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43400" y="3867911"/>
            <a:ext cx="3502152" cy="1874519"/>
          </a:xfrm>
          <a:prstGeom prst="roundRect">
            <a:avLst>
              <a:gd name="adj" fmla="val 7000"/>
            </a:avLst>
          </a:prstGeom>
          <a:solidFill>
            <a:srgbClr val="1B3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Oval 20"/>
          <p:cNvSpPr/>
          <p:nvPr/>
        </p:nvSpPr>
        <p:spPr>
          <a:xfrm>
            <a:off x="4617720" y="4123944"/>
            <a:ext cx="365760" cy="365760"/>
          </a:xfrm>
          <a:prstGeom prst="ellipse">
            <a:avLst/>
          </a:prstGeom>
          <a:solidFill>
            <a:srgbClr val="E88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50" b="1">
                <a:solidFill>
                  <a:srgbClr val="0F2620"/>
                </a:solidFill>
                <a:latin typeface="Calibri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93208" y="4187951"/>
            <a:ext cx="24688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mbria"/>
              </a:rPr>
              <a:t>Correlate and respond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17720" y="4645151"/>
            <a:ext cx="297180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CFDDD4"/>
                </a:solidFill>
                <a:latin typeface="Calibri"/>
              </a:rPr>
              <a:t>Alerts cluster into incidents by union-find, groups are checked for splits, responders are assigned across the road graph.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46719" y="3867911"/>
            <a:ext cx="3502152" cy="1874519"/>
          </a:xfrm>
          <a:prstGeom prst="roundRect">
            <a:avLst>
              <a:gd name="adj" fmla="val 7000"/>
            </a:avLst>
          </a:prstGeom>
          <a:solidFill>
            <a:srgbClr val="1B3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Oval 24"/>
          <p:cNvSpPr/>
          <p:nvPr/>
        </p:nvSpPr>
        <p:spPr>
          <a:xfrm>
            <a:off x="8321040" y="4123944"/>
            <a:ext cx="365760" cy="365760"/>
          </a:xfrm>
          <a:prstGeom prst="ellipse">
            <a:avLst/>
          </a:prstGeom>
          <a:solidFill>
            <a:srgbClr val="E88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50" b="1">
                <a:solidFill>
                  <a:srgbClr val="0F2620"/>
                </a:solidFill>
                <a:latin typeface="Calibri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96528" y="4187951"/>
            <a:ext cx="24688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mbria"/>
              </a:rPr>
              <a:t>Export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4645151"/>
            <a:ext cx="297180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CFDDD4"/>
                </a:solidFill>
                <a:latin typeface="Calibri"/>
              </a:rPr>
              <a:t>The whole run serialises into one self-contained HTML dashboard — zero network requests, opens straight from the file system.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6419088"/>
            <a:ext cx="3657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9FB3A8"/>
                </a:solidFill>
                <a:latin typeface="Calibri"/>
              </a:rPr>
              <a:t>safetrail  ·  Data Structures course project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454335" y="6419088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0" i="0">
                <a:solidFill>
                  <a:srgbClr val="9FB3A8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02336"/>
            <a:ext cx="1091153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4F7B3F"/>
                </a:solidFill>
                <a:latin typeface="Calibri"/>
              </a:rPr>
              <a:t>WHAT WE'RE USING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11535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300" b="1" i="0">
                <a:solidFill>
                  <a:srgbClr val="0F2620"/>
                </a:solidFill>
                <a:latin typeface="Cambria"/>
              </a:rPr>
              <a:t>Every data structure in the project is hand-written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26464"/>
            <a:ext cx="1091153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5F7068"/>
                </a:solidFill>
                <a:latin typeface="Calibri"/>
              </a:rPr>
              <a:t>No std::map, std::set, std::unordered_map or std::priority_queue. No Boost.Geometry, no PostGIS. std::vector and std::string are permitted as raw storage — if a container does something interesting, we wrote it.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29968"/>
            <a:ext cx="3502152" cy="3977639"/>
          </a:xfrm>
          <a:prstGeom prst="roundRect">
            <a:avLst>
              <a:gd name="adj" fmla="val 7000"/>
            </a:avLst>
          </a:prstGeom>
          <a:solidFill>
            <a:srgbClr val="ED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640080" y="2029968"/>
            <a:ext cx="3502152" cy="475488"/>
          </a:xfrm>
          <a:prstGeom prst="roundRect">
            <a:avLst>
              <a:gd name="adj" fmla="val 14000"/>
            </a:avLst>
          </a:prstGeom>
          <a:solidFill>
            <a:srgbClr val="4F7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77824" y="2167128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mbria"/>
              </a:rPr>
              <a:t>Spatial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2578608"/>
            <a:ext cx="3017520" cy="5410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 i="0">
                <a:solidFill>
                  <a:srgbClr val="0F2620"/>
                </a:solidFill>
                <a:latin typeface="Calibri"/>
              </a:rPr>
              <a:t>Quadtree</a:t>
            </a:r>
          </a:p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F7068"/>
                </a:solidFill>
                <a:latin typeface="Calibri"/>
              </a:rPr>
              <a:t>primary index · O(log n + k) avg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3119628"/>
            <a:ext cx="3017520" cy="5410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 i="0">
                <a:solidFill>
                  <a:srgbClr val="0F2620"/>
                </a:solidFill>
                <a:latin typeface="Calibri"/>
              </a:rPr>
              <a:t>R-tree</a:t>
            </a:r>
          </a:p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F7068"/>
                </a:solidFill>
                <a:latin typeface="Calibri"/>
              </a:rPr>
              <a:t>the head-to-head comparison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3660648"/>
            <a:ext cx="3017520" cy="5410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 i="0">
                <a:solidFill>
                  <a:srgbClr val="0F2620"/>
                </a:solidFill>
                <a:latin typeface="Calibri"/>
              </a:rPr>
              <a:t>Brute force</a:t>
            </a:r>
          </a:p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F7068"/>
                </a:solidFill>
                <a:latin typeface="Calibri"/>
              </a:rPr>
              <a:t>permanent correctness oracle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4201668"/>
            <a:ext cx="3017520" cy="5410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 i="0">
                <a:solidFill>
                  <a:srgbClr val="0F2620"/>
                </a:solidFill>
                <a:latin typeface="Calibri"/>
              </a:rPr>
              <a:t>Persistent quadtree</a:t>
            </a:r>
          </a:p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F7068"/>
                </a:solidFill>
                <a:latin typeface="Calibri"/>
              </a:rPr>
              <a:t>path copying · query any past instant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" y="4742688"/>
            <a:ext cx="3017520" cy="5410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 i="0">
                <a:solidFill>
                  <a:srgbClr val="0F2620"/>
                </a:solidFill>
                <a:latin typeface="Calibri"/>
              </a:rPr>
              <a:t>Geohash / Morton</a:t>
            </a:r>
          </a:p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F7068"/>
                </a:solidFill>
                <a:latin typeface="Calibri"/>
              </a:rPr>
              <a:t>Z-order index, serialisable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" y="5283708"/>
            <a:ext cx="3017520" cy="5410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 i="0">
                <a:solidFill>
                  <a:srgbClr val="0F2620"/>
                </a:solidFill>
                <a:latin typeface="Calibri"/>
              </a:rPr>
              <a:t>k-d tree</a:t>
            </a:r>
          </a:p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F7068"/>
                </a:solidFill>
                <a:latin typeface="Calibri"/>
              </a:rPr>
              <a:t>nearest responder, nearest hazard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2029968"/>
            <a:ext cx="3502152" cy="3977639"/>
          </a:xfrm>
          <a:prstGeom prst="roundRect">
            <a:avLst>
              <a:gd name="adj" fmla="val 7000"/>
            </a:avLst>
          </a:prstGeom>
          <a:solidFill>
            <a:srgbClr val="ED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4343400" y="2029968"/>
            <a:ext cx="3502152" cy="475488"/>
          </a:xfrm>
          <a:prstGeom prst="roundRect">
            <a:avLst>
              <a:gd name="adj" fmla="val 14000"/>
            </a:avLst>
          </a:prstGeom>
          <a:solidFill>
            <a:srgbClr val="4F7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581144" y="2167128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mbria"/>
              </a:rPr>
              <a:t>General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2578608"/>
            <a:ext cx="3017520" cy="4637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 i="0">
                <a:solidFill>
                  <a:srgbClr val="0F2620"/>
                </a:solidFill>
                <a:latin typeface="Calibri"/>
              </a:rPr>
              <a:t>AVL interval tree</a:t>
            </a:r>
          </a:p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F7068"/>
                </a:solidFill>
                <a:latin typeface="Calibri"/>
              </a:rPr>
              <a:t>zone validity in time · guaranteed O(log n + k)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81144" y="3042339"/>
            <a:ext cx="3017520" cy="4637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 i="0">
                <a:solidFill>
                  <a:srgbClr val="0F2620"/>
                </a:solidFill>
                <a:latin typeface="Calibri"/>
              </a:rPr>
              <a:t>Rollback union-find</a:t>
            </a:r>
          </a:p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F7068"/>
                </a:solidFill>
                <a:latin typeface="Calibri"/>
              </a:rPr>
              <a:t>groups that split as well as merge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81144" y="3506070"/>
            <a:ext cx="3017520" cy="4637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 i="0">
                <a:solidFill>
                  <a:srgbClr val="0F2620"/>
                </a:solidFill>
                <a:latin typeface="Calibri"/>
              </a:rPr>
              <a:t>Union-find (DSU)</a:t>
            </a:r>
          </a:p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F7068"/>
                </a:solidFill>
                <a:latin typeface="Calibri"/>
              </a:rPr>
              <a:t>alerts clustered into incidents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81144" y="3969802"/>
            <a:ext cx="3017520" cy="4637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 i="0">
                <a:solidFill>
                  <a:srgbClr val="0F2620"/>
                </a:solidFill>
                <a:latin typeface="Calibri"/>
              </a:rPr>
              <a:t>Binary min-heap</a:t>
            </a:r>
          </a:p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F7068"/>
                </a:solidFill>
                <a:latin typeface="Calibri"/>
              </a:rPr>
              <a:t>routing frontier and alert triage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81144" y="4433533"/>
            <a:ext cx="3017520" cy="4637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 i="0">
                <a:solidFill>
                  <a:srgbClr val="0F2620"/>
                </a:solidFill>
                <a:latin typeface="Calibri"/>
              </a:rPr>
              <a:t>Circular buffer</a:t>
            </a:r>
          </a:p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F7068"/>
                </a:solidFill>
                <a:latin typeface="Calibri"/>
              </a:rPr>
              <a:t>fixed-window GPS history per tourist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81144" y="4897265"/>
            <a:ext cx="3017520" cy="4637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 i="0">
                <a:solidFill>
                  <a:srgbClr val="0F2620"/>
                </a:solidFill>
                <a:latin typeface="Calibri"/>
              </a:rPr>
              <a:t>Hash table</a:t>
            </a:r>
          </a:p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F7068"/>
                </a:solidFill>
                <a:latin typeface="Calibri"/>
              </a:rPr>
              <a:t>open addressing, tombstone delete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81144" y="5360996"/>
            <a:ext cx="3017520" cy="4637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 i="0">
                <a:solidFill>
                  <a:srgbClr val="0F2620"/>
                </a:solidFill>
                <a:latin typeface="Calibri"/>
              </a:rPr>
              <a:t>Hashed timing wheel</a:t>
            </a:r>
          </a:p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F7068"/>
                </a:solidFill>
                <a:latin typeface="Calibri"/>
              </a:rPr>
              <a:t>escalation deadlines · O(1) amortised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46719" y="2029968"/>
            <a:ext cx="3502152" cy="3977639"/>
          </a:xfrm>
          <a:prstGeom prst="roundRect">
            <a:avLst>
              <a:gd name="adj" fmla="val 7000"/>
            </a:avLst>
          </a:prstGeom>
          <a:solidFill>
            <a:srgbClr val="ED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046719" y="2029968"/>
            <a:ext cx="3502152" cy="475488"/>
          </a:xfrm>
          <a:prstGeom prst="roundRect">
            <a:avLst>
              <a:gd name="adj" fmla="val 14000"/>
            </a:avLst>
          </a:prstGeom>
          <a:solidFill>
            <a:srgbClr val="4F7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284463" y="2167128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mbria"/>
              </a:rPr>
              <a:t>Domain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84463" y="2578608"/>
            <a:ext cx="3017520" cy="5410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 i="0">
                <a:solidFill>
                  <a:srgbClr val="0F2620"/>
                </a:solidFill>
                <a:latin typeface="Calibri"/>
              </a:rPr>
              <a:t>Adjacency-list graph</a:t>
            </a:r>
          </a:p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F7068"/>
                </a:solidFill>
                <a:latin typeface="Calibri"/>
              </a:rPr>
              <a:t>the real Shillong road network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84463" y="3119628"/>
            <a:ext cx="3017520" cy="5410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 i="0">
                <a:solidFill>
                  <a:srgbClr val="0F2620"/>
                </a:solidFill>
                <a:latin typeface="Calibri"/>
              </a:rPr>
              <a:t>Merkle tree (RFC 6962)</a:t>
            </a:r>
          </a:p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F7068"/>
                </a:solidFill>
                <a:latin typeface="Calibri"/>
              </a:rPr>
              <a:t>tamper-evident event and ID log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84463" y="3660648"/>
            <a:ext cx="3017520" cy="5410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 i="0">
                <a:solidFill>
                  <a:srgbClr val="0F2620"/>
                </a:solidFill>
                <a:latin typeface="Calibri"/>
              </a:rPr>
              <a:t>SHA-256</a:t>
            </a:r>
          </a:p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F7068"/>
                </a:solidFill>
                <a:latin typeface="Calibri"/>
              </a:rPr>
              <a:t>written from scratch, NIST vectors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84463" y="4201668"/>
            <a:ext cx="3017520" cy="5410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 i="0">
                <a:solidFill>
                  <a:srgbClr val="0F2620"/>
                </a:solidFill>
                <a:latin typeface="Calibri"/>
              </a:rPr>
              <a:t>Hysteresis state machine</a:t>
            </a:r>
          </a:p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F7068"/>
                </a:solidFill>
                <a:latin typeface="Calibri"/>
              </a:rPr>
              <a:t>per tourist, per zone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84463" y="4742688"/>
            <a:ext cx="3017520" cy="5410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 i="0">
                <a:solidFill>
                  <a:srgbClr val="0F2620"/>
                </a:solidFill>
                <a:latin typeface="Calibri"/>
              </a:rPr>
              <a:t>Adaptive rate controller</a:t>
            </a:r>
          </a:p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F7068"/>
                </a:solidFill>
                <a:latin typeface="Calibri"/>
              </a:rPr>
              <a:t>sampling as a function of risk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84463" y="5283708"/>
            <a:ext cx="3017520" cy="5410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 i="0">
                <a:solidFill>
                  <a:srgbClr val="0F2620"/>
                </a:solidFill>
                <a:latin typeface="Calibri"/>
              </a:rPr>
              <a:t>Lamport clock + reconciler</a:t>
            </a:r>
          </a:p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F7068"/>
                </a:solidFill>
                <a:latin typeface="Calibri"/>
              </a:rPr>
              <a:t>ordering events across offline devices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6419088"/>
            <a:ext cx="3657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5F7068"/>
                </a:solidFill>
                <a:latin typeface="Calibri"/>
              </a:rPr>
              <a:t>safetrail  ·  Data Structures course project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454335" y="6419088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0" i="0">
                <a:solidFill>
                  <a:srgbClr val="5F7068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6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02336"/>
            <a:ext cx="1091153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7FB069"/>
                </a:solidFill>
                <a:latin typeface="Calibri"/>
              </a:rPr>
              <a:t>THE DEEP 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11535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300" b="1" i="0">
                <a:solidFill>
                  <a:srgbClr val="FFFFFF"/>
                </a:solidFill>
                <a:latin typeface="Cambria"/>
              </a:rPr>
              <a:t>Three structures we can defend in detail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26464"/>
            <a:ext cx="1091153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9FB3A8"/>
                </a:solidFill>
                <a:latin typeface="Calibri"/>
              </a:rPr>
              <a:t>These are the ones with no counterpart in any existing implementation of this problem statement.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148840"/>
            <a:ext cx="3502152" cy="3794760"/>
          </a:xfrm>
          <a:prstGeom prst="roundRect">
            <a:avLst>
              <a:gd name="adj" fmla="val 7000"/>
            </a:avLst>
          </a:prstGeom>
          <a:solidFill>
            <a:srgbClr val="1B3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14400" y="2377440"/>
            <a:ext cx="29718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50" b="1" i="0">
                <a:solidFill>
                  <a:srgbClr val="7FB069"/>
                </a:solidFill>
                <a:latin typeface="Cambria"/>
              </a:rPr>
              <a:t>Persistent quadtree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127248"/>
            <a:ext cx="2971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E8833A"/>
                </a:solidFill>
                <a:latin typeface="Calibri"/>
              </a:rPr>
              <a:t>HOW IT WORKS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383280"/>
            <a:ext cx="297180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D8E4DC"/>
                </a:solidFill>
                <a:latin typeface="Calibri"/>
              </a:rPr>
              <a:t>Nodes are immutable and children are reference-counted. A change copies only the O(depth) nodes on one root-to-leaf path and shares every untouched subtree with the previous version.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663440"/>
            <a:ext cx="2971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E8833A"/>
                </a:solidFill>
                <a:latin typeface="Calibri"/>
              </a:rPr>
              <a:t>WHY IT IS HERE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919472"/>
            <a:ext cx="2971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D8E4DC"/>
                </a:solidFill>
                <a:latin typeface="Calibri"/>
              </a:rPr>
              <a:t>Answers the question an investigation actually asks: what were the zone rules at 14:32? Querying the past costs the same as querying the present.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2148840"/>
            <a:ext cx="3502152" cy="3794760"/>
          </a:xfrm>
          <a:prstGeom prst="roundRect">
            <a:avLst>
              <a:gd name="adj" fmla="val 7000"/>
            </a:avLst>
          </a:prstGeom>
          <a:solidFill>
            <a:srgbClr val="1B3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4617720" y="2377440"/>
            <a:ext cx="29718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50" b="1" i="0">
                <a:solidFill>
                  <a:srgbClr val="7FB069"/>
                </a:solidFill>
                <a:latin typeface="Cambria"/>
              </a:rPr>
              <a:t>Rollback union-find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3127248"/>
            <a:ext cx="2971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E8833A"/>
                </a:solidFill>
                <a:latin typeface="Calibri"/>
              </a:rPr>
              <a:t>HOW IT WORKS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3383280"/>
            <a:ext cx="297180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D8E4DC"/>
                </a:solidFill>
                <a:latin typeface="Calibri"/>
              </a:rPr>
              <a:t>Union by rank with an undo stack — and deliberately no path compression, because an unbounded set of unrecorded parent writes cannot be rolled back.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4663440"/>
            <a:ext cx="2971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E8833A"/>
                </a:solidFill>
                <a:latin typeface="Calibri"/>
              </a:rPr>
              <a:t>WHY IT IS HERE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4919472"/>
            <a:ext cx="2971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D8E4DC"/>
                </a:solidFill>
                <a:latin typeface="Calibri"/>
              </a:rPr>
              <a:t>Groups split as well as merge, so the structure has to un-merge. Giving up near-constant find to gain O(1) undo is the design decision, not an oversight.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19" y="2148840"/>
            <a:ext cx="3502152" cy="3794760"/>
          </a:xfrm>
          <a:prstGeom prst="roundRect">
            <a:avLst>
              <a:gd name="adj" fmla="val 7000"/>
            </a:avLst>
          </a:prstGeom>
          <a:solidFill>
            <a:srgbClr val="1B3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321040" y="2377440"/>
            <a:ext cx="29718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50" b="1" i="0">
                <a:solidFill>
                  <a:srgbClr val="7FB069"/>
                </a:solidFill>
                <a:latin typeface="Cambria"/>
              </a:rPr>
              <a:t>Merkle log and SHA-256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3127248"/>
            <a:ext cx="2971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E8833A"/>
                </a:solidFill>
                <a:latin typeface="Calibri"/>
              </a:rPr>
              <a:t>HOW IT WORKS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3383280"/>
            <a:ext cx="297180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D8E4DC"/>
                </a:solidFill>
                <a:latin typeface="Calibri"/>
              </a:rPr>
              <a:t>An append-only RFC 6962 tree with O(log n) inclusion proofs and consistency proofs between any two prefixes, over a SHA-256 written from scratch.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4663440"/>
            <a:ext cx="2971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E8833A"/>
                </a:solidFill>
                <a:latin typeface="Calibri"/>
              </a:rPr>
              <a:t>WHY IT IS HERE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4919472"/>
            <a:ext cx="2971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D8E4DC"/>
                </a:solidFill>
                <a:latin typeface="Calibri"/>
              </a:rPr>
              <a:t>A QR-carried digital ID verifies against a cached root with no network and no chain — the property Ethereum was being used for, in code that is ours.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419088"/>
            <a:ext cx="3657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9FB3A8"/>
                </a:solidFill>
                <a:latin typeface="Calibri"/>
              </a:rPr>
              <a:t>safetrail  ·  Data Structures course project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54335" y="6419088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0" i="0">
                <a:solidFill>
                  <a:srgbClr val="9FB3A8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02336"/>
            <a:ext cx="1091153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4F7B3F"/>
                </a:solidFill>
                <a:latin typeface="Calibri"/>
              </a:rPr>
              <a:t>ALGORITHMS ON TOP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11535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300" b="1" i="0">
                <a:solidFill>
                  <a:srgbClr val="0F2620"/>
                </a:solidFill>
                <a:latin typeface="Cambria"/>
              </a:rPr>
              <a:t>The structures earn their place by what runs on them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91640"/>
            <a:ext cx="3502152" cy="4206240"/>
          </a:xfrm>
          <a:prstGeom prst="roundRect">
            <a:avLst>
              <a:gd name="adj" fmla="val 7000"/>
            </a:avLst>
          </a:prstGeom>
          <a:solidFill>
            <a:srgbClr val="ED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896112" y="1920240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F2620"/>
                </a:solidFill>
                <a:latin typeface="Cambria"/>
              </a:rPr>
              <a:t>Geometry</a:t>
            </a:r>
          </a:p>
        </p:txBody>
      </p:sp>
      <p:sp>
        <p:nvSpPr>
          <p:cNvPr id="6" name="Oval 5"/>
          <p:cNvSpPr/>
          <p:nvPr/>
        </p:nvSpPr>
        <p:spPr>
          <a:xfrm>
            <a:off x="896112" y="2500884"/>
            <a:ext cx="68580" cy="68580"/>
          </a:xfrm>
          <a:prstGeom prst="ellipse">
            <a:avLst/>
          </a:prstGeom>
          <a:solidFill>
            <a:srgbClr val="4F7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" y="2423160"/>
            <a:ext cx="283463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>
                <a:solidFill>
                  <a:srgbClr val="1E2E27"/>
                </a:solidFill>
                <a:latin typeface="Calibri"/>
              </a:rPr>
              <a:t>Ray casting — point in polygon</a:t>
            </a:r>
          </a:p>
        </p:txBody>
      </p:sp>
      <p:sp>
        <p:nvSpPr>
          <p:cNvPr id="8" name="Oval 7"/>
          <p:cNvSpPr/>
          <p:nvPr/>
        </p:nvSpPr>
        <p:spPr>
          <a:xfrm>
            <a:off x="896112" y="3049524"/>
            <a:ext cx="68580" cy="68580"/>
          </a:xfrm>
          <a:prstGeom prst="ellipse">
            <a:avLst/>
          </a:prstGeom>
          <a:solidFill>
            <a:srgbClr val="4F7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2971800"/>
            <a:ext cx="283463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>
                <a:solidFill>
                  <a:srgbClr val="1E2E27"/>
                </a:solidFill>
                <a:latin typeface="Calibri"/>
              </a:rPr>
              <a:t>Winding number — an independent second opinion</a:t>
            </a:r>
          </a:p>
        </p:txBody>
      </p:sp>
      <p:sp>
        <p:nvSpPr>
          <p:cNvPr id="10" name="Oval 9"/>
          <p:cNvSpPr/>
          <p:nvPr/>
        </p:nvSpPr>
        <p:spPr>
          <a:xfrm>
            <a:off x="896112" y="3598163"/>
            <a:ext cx="68580" cy="68580"/>
          </a:xfrm>
          <a:prstGeom prst="ellipse">
            <a:avLst/>
          </a:prstGeom>
          <a:solidFill>
            <a:srgbClr val="4F7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8992" y="3520439"/>
            <a:ext cx="283463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>
                <a:solidFill>
                  <a:srgbClr val="1E2E27"/>
                </a:solidFill>
                <a:latin typeface="Calibri"/>
              </a:rPr>
              <a:t>Circle vs polygon — the three-valued test</a:t>
            </a:r>
          </a:p>
        </p:txBody>
      </p:sp>
      <p:sp>
        <p:nvSpPr>
          <p:cNvPr id="12" name="Oval 11"/>
          <p:cNvSpPr/>
          <p:nvPr/>
        </p:nvSpPr>
        <p:spPr>
          <a:xfrm>
            <a:off x="896112" y="4146803"/>
            <a:ext cx="68580" cy="68580"/>
          </a:xfrm>
          <a:prstGeom prst="ellipse">
            <a:avLst/>
          </a:prstGeom>
          <a:solidFill>
            <a:srgbClr val="4F7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8992" y="4069079"/>
            <a:ext cx="283463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>
                <a:solidFill>
                  <a:srgbClr val="1E2E27"/>
                </a:solidFill>
                <a:latin typeface="Calibri"/>
              </a:rPr>
              <a:t>Signed distance to the nearest edge</a:t>
            </a:r>
          </a:p>
        </p:txBody>
      </p:sp>
      <p:sp>
        <p:nvSpPr>
          <p:cNvPr id="14" name="Oval 13"/>
          <p:cNvSpPr/>
          <p:nvPr/>
        </p:nvSpPr>
        <p:spPr>
          <a:xfrm>
            <a:off x="896112" y="4695444"/>
            <a:ext cx="68580" cy="68580"/>
          </a:xfrm>
          <a:prstGeom prst="ellipse">
            <a:avLst/>
          </a:prstGeom>
          <a:solidFill>
            <a:srgbClr val="4F7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78992" y="4617720"/>
            <a:ext cx="283463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>
                <a:solidFill>
                  <a:srgbClr val="1E2E27"/>
                </a:solidFill>
                <a:latin typeface="Calibri"/>
              </a:rPr>
              <a:t>Shamos–Hoey sweep line, AVL status structure</a:t>
            </a:r>
          </a:p>
        </p:txBody>
      </p:sp>
      <p:sp>
        <p:nvSpPr>
          <p:cNvPr id="16" name="Oval 15"/>
          <p:cNvSpPr/>
          <p:nvPr/>
        </p:nvSpPr>
        <p:spPr>
          <a:xfrm>
            <a:off x="896112" y="5244084"/>
            <a:ext cx="68580" cy="68580"/>
          </a:xfrm>
          <a:prstGeom prst="ellipse">
            <a:avLst/>
          </a:prstGeom>
          <a:solidFill>
            <a:srgbClr val="4F7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78992" y="5166360"/>
            <a:ext cx="283463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>
                <a:solidFill>
                  <a:srgbClr val="1E2E27"/>
                </a:solidFill>
                <a:latin typeface="Calibri"/>
              </a:rPr>
              <a:t>Douglas–Peucker boundary simplification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43400" y="1691640"/>
            <a:ext cx="3502152" cy="4206240"/>
          </a:xfrm>
          <a:prstGeom prst="roundRect">
            <a:avLst>
              <a:gd name="adj" fmla="val 7000"/>
            </a:avLst>
          </a:prstGeom>
          <a:solidFill>
            <a:srgbClr val="ED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599432" y="1920240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F2620"/>
                </a:solidFill>
                <a:latin typeface="Cambria"/>
              </a:rPr>
              <a:t>Graphs and assignment</a:t>
            </a:r>
          </a:p>
        </p:txBody>
      </p:sp>
      <p:sp>
        <p:nvSpPr>
          <p:cNvPr id="20" name="Oval 19"/>
          <p:cNvSpPr/>
          <p:nvPr/>
        </p:nvSpPr>
        <p:spPr>
          <a:xfrm>
            <a:off x="4599432" y="2500884"/>
            <a:ext cx="68580" cy="68580"/>
          </a:xfrm>
          <a:prstGeom prst="ellipse">
            <a:avLst/>
          </a:prstGeom>
          <a:solidFill>
            <a:srgbClr val="4F7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82312" y="2423160"/>
            <a:ext cx="283463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>
                <a:solidFill>
                  <a:srgbClr val="1E2E27"/>
                </a:solidFill>
                <a:latin typeface="Calibri"/>
              </a:rPr>
              <a:t>Dijkstra over a binary-heap frontier</a:t>
            </a:r>
          </a:p>
        </p:txBody>
      </p:sp>
      <p:sp>
        <p:nvSpPr>
          <p:cNvPr id="22" name="Oval 21"/>
          <p:cNvSpPr/>
          <p:nvPr/>
        </p:nvSpPr>
        <p:spPr>
          <a:xfrm>
            <a:off x="4599432" y="3049524"/>
            <a:ext cx="68580" cy="68580"/>
          </a:xfrm>
          <a:prstGeom prst="ellipse">
            <a:avLst/>
          </a:prstGeom>
          <a:solidFill>
            <a:srgbClr val="4F7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82312" y="2971800"/>
            <a:ext cx="283463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>
                <a:solidFill>
                  <a:srgbClr val="1E2E27"/>
                </a:solidFill>
                <a:latin typeface="Calibri"/>
              </a:rPr>
              <a:t>A* with an admissible haversine heuristic</a:t>
            </a:r>
          </a:p>
        </p:txBody>
      </p:sp>
      <p:sp>
        <p:nvSpPr>
          <p:cNvPr id="24" name="Oval 23"/>
          <p:cNvSpPr/>
          <p:nvPr/>
        </p:nvSpPr>
        <p:spPr>
          <a:xfrm>
            <a:off x="4599432" y="3598163"/>
            <a:ext cx="68580" cy="68580"/>
          </a:xfrm>
          <a:prstGeom prst="ellipse">
            <a:avLst/>
          </a:prstGeom>
          <a:solidFill>
            <a:srgbClr val="4F7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82312" y="3520439"/>
            <a:ext cx="283463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>
                <a:solidFill>
                  <a:srgbClr val="1E2E27"/>
                </a:solidFill>
                <a:latin typeface="Calibri"/>
              </a:rPr>
              <a:t>Kuhn's algorithm — maximum matching</a:t>
            </a:r>
          </a:p>
        </p:txBody>
      </p:sp>
      <p:sp>
        <p:nvSpPr>
          <p:cNvPr id="26" name="Oval 25"/>
          <p:cNvSpPr/>
          <p:nvPr/>
        </p:nvSpPr>
        <p:spPr>
          <a:xfrm>
            <a:off x="4599432" y="4146803"/>
            <a:ext cx="68580" cy="68580"/>
          </a:xfrm>
          <a:prstGeom prst="ellipse">
            <a:avLst/>
          </a:prstGeom>
          <a:solidFill>
            <a:srgbClr val="4F7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82312" y="4069079"/>
            <a:ext cx="283463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>
                <a:solidFill>
                  <a:srgbClr val="1E2E27"/>
                </a:solidFill>
                <a:latin typeface="Calibri"/>
              </a:rPr>
              <a:t>Hungarian — provably optimal assignment</a:t>
            </a:r>
          </a:p>
        </p:txBody>
      </p:sp>
      <p:sp>
        <p:nvSpPr>
          <p:cNvPr id="28" name="Oval 27"/>
          <p:cNvSpPr/>
          <p:nvPr/>
        </p:nvSpPr>
        <p:spPr>
          <a:xfrm>
            <a:off x="4599432" y="4695444"/>
            <a:ext cx="68580" cy="68580"/>
          </a:xfrm>
          <a:prstGeom prst="ellipse">
            <a:avLst/>
          </a:prstGeom>
          <a:solidFill>
            <a:srgbClr val="4F7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82312" y="4617720"/>
            <a:ext cx="283463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>
                <a:solidFill>
                  <a:srgbClr val="1E2E27"/>
                </a:solidFill>
                <a:latin typeface="Calibri"/>
              </a:rPr>
              <a:t>k-d nearest-neighbour search</a:t>
            </a:r>
          </a:p>
        </p:txBody>
      </p:sp>
      <p:sp>
        <p:nvSpPr>
          <p:cNvPr id="30" name="Oval 29"/>
          <p:cNvSpPr/>
          <p:nvPr/>
        </p:nvSpPr>
        <p:spPr>
          <a:xfrm>
            <a:off x="4599432" y="5244084"/>
            <a:ext cx="68580" cy="68580"/>
          </a:xfrm>
          <a:prstGeom prst="ellipse">
            <a:avLst/>
          </a:prstGeom>
          <a:solidFill>
            <a:srgbClr val="4F7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82312" y="5166360"/>
            <a:ext cx="283463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>
                <a:solidFill>
                  <a:srgbClr val="1E2E27"/>
                </a:solidFill>
                <a:latin typeface="Calibri"/>
              </a:rPr>
              <a:t>Polygon nesting for jurisdiction lookup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46719" y="1691640"/>
            <a:ext cx="3502152" cy="4206240"/>
          </a:xfrm>
          <a:prstGeom prst="roundRect">
            <a:avLst>
              <a:gd name="adj" fmla="val 7000"/>
            </a:avLst>
          </a:prstGeom>
          <a:solidFill>
            <a:srgbClr val="ED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8302751" y="1920240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F2620"/>
                </a:solidFill>
                <a:latin typeface="Cambria"/>
              </a:rPr>
              <a:t>Live mechanisms</a:t>
            </a:r>
          </a:p>
        </p:txBody>
      </p:sp>
      <p:sp>
        <p:nvSpPr>
          <p:cNvPr id="34" name="Oval 33"/>
          <p:cNvSpPr/>
          <p:nvPr/>
        </p:nvSpPr>
        <p:spPr>
          <a:xfrm>
            <a:off x="8302751" y="2500884"/>
            <a:ext cx="68580" cy="68580"/>
          </a:xfrm>
          <a:prstGeom prst="ellipse">
            <a:avLst/>
          </a:prstGeom>
          <a:solidFill>
            <a:srgbClr val="4F7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85631" y="2423160"/>
            <a:ext cx="283463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>
                <a:solidFill>
                  <a:srgbClr val="1E2E27"/>
                </a:solidFill>
                <a:latin typeface="Calibri"/>
              </a:rPr>
              <a:t>Hysteresis — separate enter and exit thresholds</a:t>
            </a:r>
          </a:p>
        </p:txBody>
      </p:sp>
      <p:sp>
        <p:nvSpPr>
          <p:cNvPr id="36" name="Oval 35"/>
          <p:cNvSpPr/>
          <p:nvPr/>
        </p:nvSpPr>
        <p:spPr>
          <a:xfrm>
            <a:off x="8302751" y="3049524"/>
            <a:ext cx="68580" cy="68580"/>
          </a:xfrm>
          <a:prstGeom prst="ellipse">
            <a:avLst/>
          </a:prstGeom>
          <a:solidFill>
            <a:srgbClr val="4F7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85631" y="2971800"/>
            <a:ext cx="283463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>
                <a:solidFill>
                  <a:srgbClr val="1E2E27"/>
                </a:solidFill>
                <a:latin typeface="Calibri"/>
              </a:rPr>
              <a:t>Predictive crossing with time-to-boundary</a:t>
            </a:r>
          </a:p>
        </p:txBody>
      </p:sp>
      <p:sp>
        <p:nvSpPr>
          <p:cNvPr id="38" name="Oval 37"/>
          <p:cNvSpPr/>
          <p:nvPr/>
        </p:nvSpPr>
        <p:spPr>
          <a:xfrm>
            <a:off x="8302751" y="3598163"/>
            <a:ext cx="68580" cy="68580"/>
          </a:xfrm>
          <a:prstGeom prst="ellipse">
            <a:avLst/>
          </a:prstGeom>
          <a:solidFill>
            <a:srgbClr val="4F7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485631" y="3520439"/>
            <a:ext cx="283463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>
                <a:solidFill>
                  <a:srgbClr val="1E2E27"/>
                </a:solidFill>
                <a:latin typeface="Calibri"/>
              </a:rPr>
              <a:t>Spatio-temporal alert correlation</a:t>
            </a:r>
          </a:p>
        </p:txBody>
      </p:sp>
      <p:sp>
        <p:nvSpPr>
          <p:cNvPr id="40" name="Oval 39"/>
          <p:cNvSpPr/>
          <p:nvPr/>
        </p:nvSpPr>
        <p:spPr>
          <a:xfrm>
            <a:off x="8302751" y="4146803"/>
            <a:ext cx="68580" cy="68580"/>
          </a:xfrm>
          <a:prstGeom prst="ellipse">
            <a:avLst/>
          </a:prstGeom>
          <a:solidFill>
            <a:srgbClr val="4F7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485631" y="4069079"/>
            <a:ext cx="283463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>
                <a:solidFill>
                  <a:srgbClr val="1E2E27"/>
                </a:solidFill>
                <a:latin typeface="Calibri"/>
              </a:rPr>
              <a:t>Group cohesion and straggler detection</a:t>
            </a:r>
          </a:p>
        </p:txBody>
      </p:sp>
      <p:sp>
        <p:nvSpPr>
          <p:cNvPr id="42" name="Oval 41"/>
          <p:cNvSpPr/>
          <p:nvPr/>
        </p:nvSpPr>
        <p:spPr>
          <a:xfrm>
            <a:off x="8302751" y="4695444"/>
            <a:ext cx="68580" cy="68580"/>
          </a:xfrm>
          <a:prstGeom prst="ellipse">
            <a:avLst/>
          </a:prstGeom>
          <a:solidFill>
            <a:srgbClr val="4F7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485631" y="4617720"/>
            <a:ext cx="283463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>
                <a:solidFill>
                  <a:srgbClr val="1E2E27"/>
                </a:solidFill>
                <a:latin typeface="Calibri"/>
              </a:rPr>
              <a:t>Risk-adaptive sampling</a:t>
            </a:r>
          </a:p>
        </p:txBody>
      </p:sp>
      <p:sp>
        <p:nvSpPr>
          <p:cNvPr id="44" name="Oval 43"/>
          <p:cNvSpPr/>
          <p:nvPr/>
        </p:nvSpPr>
        <p:spPr>
          <a:xfrm>
            <a:off x="8302751" y="5244084"/>
            <a:ext cx="68580" cy="68580"/>
          </a:xfrm>
          <a:prstGeom prst="ellipse">
            <a:avLst/>
          </a:prstGeom>
          <a:solidFill>
            <a:srgbClr val="4F7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485631" y="5166360"/>
            <a:ext cx="283463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>
                <a:solidFill>
                  <a:srgbClr val="1E2E27"/>
                </a:solidFill>
                <a:latin typeface="Calibri"/>
              </a:rPr>
              <a:t>Lamport-ordered offline reconciliation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080" y="6035040"/>
            <a:ext cx="1091153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5F7068"/>
                </a:solidFill>
                <a:latin typeface="Calibri"/>
              </a:rPr>
              <a:t>Each one is checked against a slow, obviously-correct version of itself — Dijkstra against Floyd–Warshall, matching against exhaustive search, ray casting against the winding number.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0080" y="6419088"/>
            <a:ext cx="3657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5F7068"/>
                </a:solidFill>
                <a:latin typeface="Calibri"/>
              </a:rPr>
              <a:t>safetrail  ·  Data Structures course project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454335" y="6419088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0" i="0">
                <a:solidFill>
                  <a:srgbClr val="5F7068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02336"/>
            <a:ext cx="1091153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4F7B3F"/>
                </a:solidFill>
                <a:latin typeface="Calibri"/>
              </a:rPr>
              <a:t>THE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11535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300" b="1" i="0">
                <a:solidFill>
                  <a:srgbClr val="0F2620"/>
                </a:solidFill>
                <a:latin typeface="Cambria"/>
              </a:rPr>
              <a:t>Real geography, simulated people — on purpose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91640"/>
            <a:ext cx="5358384" cy="2743200"/>
          </a:xfrm>
          <a:prstGeom prst="roundRect">
            <a:avLst>
              <a:gd name="adj" fmla="val 7000"/>
            </a:avLst>
          </a:prstGeom>
          <a:solidFill>
            <a:srgbClr val="ED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32688" y="1901952"/>
            <a:ext cx="4754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1" i="0">
                <a:solidFill>
                  <a:srgbClr val="4F7B3F"/>
                </a:solidFill>
                <a:latin typeface="Cambria"/>
              </a:rPr>
              <a:t>Real</a:t>
            </a:r>
          </a:p>
        </p:txBody>
      </p:sp>
      <p:sp>
        <p:nvSpPr>
          <p:cNvPr id="6" name="Oval 5"/>
          <p:cNvSpPr/>
          <p:nvPr/>
        </p:nvSpPr>
        <p:spPr>
          <a:xfrm>
            <a:off x="932688" y="2455164"/>
            <a:ext cx="68580" cy="68580"/>
          </a:xfrm>
          <a:prstGeom prst="ellipse">
            <a:avLst/>
          </a:prstGeom>
          <a:solidFill>
            <a:srgbClr val="4F7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" y="2377440"/>
            <a:ext cx="457200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1E2E27"/>
                </a:solidFill>
                <a:latin typeface="Calibri"/>
              </a:rPr>
              <a:t>38 hazard zones fetched from OpenStreetMap through the Overpass API</a:t>
            </a:r>
          </a:p>
        </p:txBody>
      </p:sp>
      <p:sp>
        <p:nvSpPr>
          <p:cNvPr id="8" name="Oval 7"/>
          <p:cNvSpPr/>
          <p:nvPr/>
        </p:nvSpPr>
        <p:spPr>
          <a:xfrm>
            <a:off x="932688" y="3076956"/>
            <a:ext cx="68580" cy="68580"/>
          </a:xfrm>
          <a:prstGeom prst="ellipse">
            <a:avLst/>
          </a:prstGeom>
          <a:solidFill>
            <a:srgbClr val="4F7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5568" y="2999232"/>
            <a:ext cx="457200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1E2E27"/>
                </a:solidFill>
                <a:latin typeface="Calibri"/>
              </a:rPr>
              <a:t>Actual reservoirs, forests and landmarks around Shillong — Wards Lake, Sonapani Waterfall Cliff — at their true coordinates</a:t>
            </a:r>
          </a:p>
        </p:txBody>
      </p:sp>
      <p:sp>
        <p:nvSpPr>
          <p:cNvPr id="10" name="Oval 9"/>
          <p:cNvSpPr/>
          <p:nvPr/>
        </p:nvSpPr>
        <p:spPr>
          <a:xfrm>
            <a:off x="932688" y="3698748"/>
            <a:ext cx="68580" cy="68580"/>
          </a:xfrm>
          <a:prstGeom prst="ellipse">
            <a:avLst/>
          </a:prstGeom>
          <a:solidFill>
            <a:srgbClr val="4F7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5568" y="3621024"/>
            <a:ext cx="457200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1E2E27"/>
                </a:solidFill>
                <a:latin typeface="Calibri"/>
              </a:rPr>
              <a:t>The real Shillong road network: 144,090 nodes, 147,039 edges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0488" y="1691640"/>
            <a:ext cx="5358384" cy="2743200"/>
          </a:xfrm>
          <a:prstGeom prst="roundRect">
            <a:avLst>
              <a:gd name="adj" fmla="val 7000"/>
            </a:avLst>
          </a:prstGeom>
          <a:solidFill>
            <a:srgbClr val="ED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483096" y="1901952"/>
            <a:ext cx="4754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1" i="0">
                <a:solidFill>
                  <a:srgbClr val="E8833A"/>
                </a:solidFill>
                <a:latin typeface="Cambria"/>
              </a:rPr>
              <a:t>Simulated</a:t>
            </a:r>
          </a:p>
        </p:txBody>
      </p:sp>
      <p:sp>
        <p:nvSpPr>
          <p:cNvPr id="14" name="Oval 13"/>
          <p:cNvSpPr/>
          <p:nvPr/>
        </p:nvSpPr>
        <p:spPr>
          <a:xfrm>
            <a:off x="6483096" y="2455164"/>
            <a:ext cx="68580" cy="68580"/>
          </a:xfrm>
          <a:prstGeom prst="ellipse">
            <a:avLst/>
          </a:prstGeom>
          <a:solidFill>
            <a:srgbClr val="E88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65976" y="2377440"/>
            <a:ext cx="457200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1E2E27"/>
                </a:solidFill>
                <a:latin typeface="Calibri"/>
              </a:rPr>
              <a:t>Tourist movement, from a seeded mobility model — same seed, same run, every time</a:t>
            </a:r>
          </a:p>
        </p:txBody>
      </p:sp>
      <p:sp>
        <p:nvSpPr>
          <p:cNvPr id="16" name="Oval 15"/>
          <p:cNvSpPr/>
          <p:nvPr/>
        </p:nvSpPr>
        <p:spPr>
          <a:xfrm>
            <a:off x="6483096" y="3076956"/>
            <a:ext cx="68580" cy="68580"/>
          </a:xfrm>
          <a:prstGeom prst="ellipse">
            <a:avLst/>
          </a:prstGeom>
          <a:solidFill>
            <a:srgbClr val="E88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65976" y="2999232"/>
            <a:ext cx="457200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1E2E27"/>
                </a:solidFill>
                <a:latin typeface="Calibri"/>
              </a:rPr>
              <a:t>GPS error as an AR(1) drift process, not white noise, plus multipath and dropouts</a:t>
            </a:r>
          </a:p>
        </p:txBody>
      </p:sp>
      <p:sp>
        <p:nvSpPr>
          <p:cNvPr id="18" name="Oval 17"/>
          <p:cNvSpPr/>
          <p:nvPr/>
        </p:nvSpPr>
        <p:spPr>
          <a:xfrm>
            <a:off x="6483096" y="3698748"/>
            <a:ext cx="68580" cy="68580"/>
          </a:xfrm>
          <a:prstGeom prst="ellipse">
            <a:avLst/>
          </a:prstGeom>
          <a:solidFill>
            <a:srgbClr val="E88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65976" y="3621024"/>
            <a:ext cx="457200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1E2E27"/>
                </a:solidFill>
                <a:latin typeface="Calibri"/>
              </a:rPr>
              <a:t>Filler zones that pad the index to 100,000 for the scaling experiments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617720"/>
            <a:ext cx="10911535" cy="1207008"/>
          </a:xfrm>
          <a:prstGeom prst="roundRect">
            <a:avLst>
              <a:gd name="adj" fmla="val 7000"/>
            </a:avLst>
          </a:prstGeom>
          <a:solidFill>
            <a:srgbClr val="0F26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960119" y="4800600"/>
            <a:ext cx="1027145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7FB069"/>
                </a:solidFill>
                <a:latin typeface="Calibri"/>
              </a:rPr>
              <a:t>Why simulate the people?</a:t>
            </a:r>
          </a:p>
          <a:p>
            <a:pPr algn="l">
              <a:lnSpc>
                <a:spcPct val="118000"/>
              </a:lnSpc>
            </a:pPr>
            <a:r>
              <a:rPr sz="1150" b="0" i="0">
                <a:solidFill>
                  <a:srgbClr val="D8E4DC"/>
                </a:solidFill>
                <a:latin typeface="Calibri"/>
              </a:rPr>
              <a:t>No real tourist-tracking dataset exists for this problem — and simulation is what gives us ground truth. We hold the true position; the engine only ever sees the noisy fix. That is what makes it possible to measure whether the engine got the right answer. A recording of real GPS traces could not tell us that.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035040"/>
            <a:ext cx="1091153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F7068"/>
                </a:solidFill>
                <a:latin typeface="Courier New"/>
              </a:rPr>
              <a:t>Overpass API  →  tools/osm_to_zones.py  →  data/zones/shillong_osm.geojson  →  ZoneStore::load_geojson()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419088"/>
            <a:ext cx="3657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5F7068"/>
                </a:solidFill>
                <a:latin typeface="Calibri"/>
              </a:rPr>
              <a:t>safetrail  ·  Data Structures course project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54335" y="6419088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0" i="0">
                <a:solidFill>
                  <a:srgbClr val="5F7068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02336"/>
            <a:ext cx="1091153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4F7B3F"/>
                </a:solidFill>
                <a:latin typeface="Calibri"/>
              </a:rPr>
              <a:t>THE TOOLCHAIN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11535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300" b="1" i="0">
                <a:solidFill>
                  <a:srgbClr val="0F2620"/>
                </a:solidFill>
                <a:latin typeface="Cambria"/>
              </a:rPr>
              <a:t>C++17, one Makefile, nothing to install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5358384" cy="960120"/>
          </a:xfrm>
          <a:prstGeom prst="roundRect">
            <a:avLst>
              <a:gd name="adj" fmla="val 7000"/>
            </a:avLst>
          </a:prstGeom>
          <a:solidFill>
            <a:srgbClr val="ED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14400" y="1883664"/>
            <a:ext cx="4809744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0F2620"/>
                </a:solidFill>
                <a:latin typeface="Calibri"/>
              </a:rPr>
              <a:t>Language</a:t>
            </a:r>
          </a:p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5F7068"/>
                </a:solidFill>
                <a:latin typeface="Calibri"/>
              </a:rPr>
              <a:t>C++17. No external dependency anywhere — not in the core, not in the viewer, not in the build.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834639"/>
            <a:ext cx="5358384" cy="960120"/>
          </a:xfrm>
          <a:prstGeom prst="roundRect">
            <a:avLst>
              <a:gd name="adj" fmla="val 7000"/>
            </a:avLst>
          </a:prstGeom>
          <a:solidFill>
            <a:srgbClr val="ED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2980944"/>
            <a:ext cx="4809744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0F2620"/>
                </a:solidFill>
                <a:latin typeface="Calibri"/>
              </a:rPr>
              <a:t>Build</a:t>
            </a:r>
          </a:p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5F7068"/>
                </a:solidFill>
                <a:latin typeface="Calibri"/>
              </a:rPr>
              <a:t>A plain Makefile (CMake is optional and unused day to day). No package manager, no fetch step: git clone and make.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931920"/>
            <a:ext cx="5358384" cy="960120"/>
          </a:xfrm>
          <a:prstGeom prst="roundRect">
            <a:avLst>
              <a:gd name="adj" fmla="val 7000"/>
            </a:avLst>
          </a:prstGeom>
          <a:solidFill>
            <a:srgbClr val="ED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14400" y="4078224"/>
            <a:ext cx="4809744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0F2620"/>
                </a:solidFill>
                <a:latin typeface="Calibri"/>
              </a:rPr>
              <a:t>Python 3</a:t>
            </a:r>
          </a:p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5F7068"/>
                </a:solidFill>
                <a:latin typeface="Calibri"/>
              </a:rPr>
              <a:t>Used only for offline data preparation — pulling zones and roads from the Overpass API and converting them.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5029200"/>
            <a:ext cx="5358384" cy="960120"/>
          </a:xfrm>
          <a:prstGeom prst="roundRect">
            <a:avLst>
              <a:gd name="adj" fmla="val 7000"/>
            </a:avLst>
          </a:prstGeom>
          <a:solidFill>
            <a:srgbClr val="ED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14400" y="5175504"/>
            <a:ext cx="4809744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0F2620"/>
                </a:solidFill>
                <a:latin typeface="Calibri"/>
              </a:rPr>
              <a:t>Output</a:t>
            </a:r>
          </a:p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5F7068"/>
                </a:solidFill>
                <a:latin typeface="Calibri"/>
              </a:rPr>
              <a:t>One self-contained HTML file with a hand-drawn canvas map. Zero network requests: no CDN, no tiles, no fonts, no sockets.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0488" y="1737360"/>
            <a:ext cx="5358384" cy="3886200"/>
          </a:xfrm>
          <a:prstGeom prst="roundRect">
            <a:avLst>
              <a:gd name="adj" fmla="val 7000"/>
            </a:avLst>
          </a:prstGeom>
          <a:solidFill>
            <a:srgbClr val="0F26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483096" y="1965960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E8833A"/>
                </a:solidFill>
                <a:latin typeface="Calibri"/>
              </a:rPr>
              <a:t>the whole interface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83096" y="2395728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7FB069"/>
                </a:solidFill>
                <a:latin typeface="Courier New"/>
              </a:rPr>
              <a:t>$ make 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83096" y="2651760"/>
            <a:ext cx="47548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9FB3A8"/>
                </a:solidFill>
                <a:latin typeface="Calibri"/>
              </a:rPr>
              <a:t>unit tests — gates everything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83096" y="2999232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7FB069"/>
                </a:solidFill>
                <a:latin typeface="Courier New"/>
              </a:rPr>
              <a:t>$ make demo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83096" y="3255264"/>
            <a:ext cx="47548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9FB3A8"/>
                </a:solidFill>
                <a:latin typeface="Calibri"/>
              </a:rPr>
              <a:t>run the simulation, stream events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83096" y="3602736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7FB069"/>
                </a:solidFill>
                <a:latin typeface="Courier New"/>
              </a:rPr>
              <a:t>$ make bench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83096" y="3858768"/>
            <a:ext cx="47548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9FB3A8"/>
                </a:solidFill>
                <a:latin typeface="Calibri"/>
              </a:rPr>
              <a:t>index scaling + correctness gates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83096" y="4206240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7FB069"/>
                </a:solidFill>
                <a:latin typeface="Courier New"/>
              </a:rPr>
              <a:t>$ make dashboard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83096" y="4462272"/>
            <a:ext cx="47548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9FB3A8"/>
                </a:solidFill>
                <a:latin typeface="Calibri"/>
              </a:rPr>
              <a:t>writes dashboard.html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83096" y="4809744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7FB069"/>
                </a:solidFill>
                <a:latin typeface="Courier New"/>
              </a:rPr>
              <a:t>$ make asan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83096" y="5065776"/>
            <a:ext cx="47548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9FB3A8"/>
                </a:solidFill>
                <a:latin typeface="Calibri"/>
              </a:rPr>
              <a:t>the suite under ASan and UBSan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080760"/>
            <a:ext cx="1091153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5F7068"/>
                </a:solidFill>
                <a:latin typeface="Calibri"/>
              </a:rPr>
              <a:t>The dashboard is a deterministic replay of a recorded run, not a live server — which is exactly why it can be a single file.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6419088"/>
            <a:ext cx="3657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5F7068"/>
                </a:solidFill>
                <a:latin typeface="Calibri"/>
              </a:rPr>
              <a:t>safetrail  ·  Data Structures course project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454335" y="6419088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0" i="0">
                <a:solidFill>
                  <a:srgbClr val="5F7068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02336"/>
            <a:ext cx="1091153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4F7B3F"/>
                </a:solidFill>
                <a:latin typeface="Calibri"/>
              </a:rPr>
              <a:t>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11535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300" b="1" i="0">
                <a:solidFill>
                  <a:srgbClr val="0F2620"/>
                </a:solidFill>
                <a:latin typeface="Cambria"/>
              </a:rPr>
              <a:t>How we know the fast version is the right version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83080"/>
            <a:ext cx="3502152" cy="1874519"/>
          </a:xfrm>
          <a:prstGeom prst="roundRect">
            <a:avLst>
              <a:gd name="adj" fmla="val 7000"/>
            </a:avLst>
          </a:prstGeom>
          <a:solidFill>
            <a:srgbClr val="ED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896112" y="2020824"/>
            <a:ext cx="347472" cy="347472"/>
          </a:xfrm>
          <a:prstGeom prst="ellipse">
            <a:avLst/>
          </a:prstGeom>
          <a:solidFill>
            <a:srgbClr val="4F7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53312" y="2057400"/>
            <a:ext cx="25603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250" b="1" i="0">
                <a:solidFill>
                  <a:srgbClr val="0F2620"/>
                </a:solidFill>
                <a:latin typeface="Calibri"/>
              </a:rPr>
              <a:t>Oracle testing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569464"/>
            <a:ext cx="2990088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F7068"/>
                </a:solidFill>
                <a:latin typeface="Calibri"/>
              </a:rPr>
              <a:t>Every fast structure is checked against a slow, obviously-correct one: the brute-force index, Floyd–Warshall, exhaustive matching, a linear scan.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783080"/>
            <a:ext cx="3502152" cy="1874519"/>
          </a:xfrm>
          <a:prstGeom prst="roundRect">
            <a:avLst>
              <a:gd name="adj" fmla="val 7000"/>
            </a:avLst>
          </a:prstGeom>
          <a:solidFill>
            <a:srgbClr val="ED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4599432" y="2020824"/>
            <a:ext cx="347472" cy="347472"/>
          </a:xfrm>
          <a:prstGeom prst="ellipse">
            <a:avLst/>
          </a:prstGeom>
          <a:solidFill>
            <a:srgbClr val="4F7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56632" y="2057400"/>
            <a:ext cx="25603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250" b="1" i="0">
                <a:solidFill>
                  <a:srgbClr val="0F2620"/>
                </a:solidFill>
                <a:latin typeface="Calibri"/>
              </a:rPr>
              <a:t>Determinism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9432" y="2569464"/>
            <a:ext cx="2990088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F7068"/>
                </a:solidFill>
                <a:latin typeface="Calibri"/>
              </a:rPr>
              <a:t>Fixed seeds, stable tie-breaking, byte-identical output across runs. Without it the replay harness and every A/B comparison are worthless.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19" y="1783080"/>
            <a:ext cx="3502152" cy="1874519"/>
          </a:xfrm>
          <a:prstGeom prst="roundRect">
            <a:avLst>
              <a:gd name="adj" fmla="val 7000"/>
            </a:avLst>
          </a:prstGeom>
          <a:solidFill>
            <a:srgbClr val="ED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8302751" y="2020824"/>
            <a:ext cx="347472" cy="347472"/>
          </a:xfrm>
          <a:prstGeom prst="ellipse">
            <a:avLst/>
          </a:prstGeom>
          <a:solidFill>
            <a:srgbClr val="4F7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59951" y="2057400"/>
            <a:ext cx="25603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250" b="1" i="0">
                <a:solidFill>
                  <a:srgbClr val="0F2620"/>
                </a:solidFill>
                <a:latin typeface="Calibri"/>
              </a:rPr>
              <a:t>New structure, new 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02751" y="2569464"/>
            <a:ext cx="2990088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F7068"/>
                </a:solidFill>
                <a:latin typeface="Calibri"/>
              </a:rPr>
              <a:t>28 test files, 285 assertions — each fast structure checked against a brute-force oracle over thousands of randomized trials. Three real bugs were caught this way.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867911"/>
            <a:ext cx="3502152" cy="1874519"/>
          </a:xfrm>
          <a:prstGeom prst="roundRect">
            <a:avLst>
              <a:gd name="adj" fmla="val 7000"/>
            </a:avLst>
          </a:prstGeom>
          <a:solidFill>
            <a:srgbClr val="ED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896112" y="4105655"/>
            <a:ext cx="347472" cy="347472"/>
          </a:xfrm>
          <a:prstGeom prst="ellipse">
            <a:avLst/>
          </a:prstGeom>
          <a:solidFill>
            <a:srgbClr val="4F7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53312" y="4142231"/>
            <a:ext cx="25603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250" b="1" i="0">
                <a:solidFill>
                  <a:srgbClr val="0F2620"/>
                </a:solidFill>
                <a:latin typeface="Calibri"/>
              </a:rPr>
              <a:t>No allocation in the tick loop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" y="4654296"/>
            <a:ext cx="2990088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F7068"/>
                </a:solidFill>
                <a:latin typeface="Calibri"/>
              </a:rPr>
              <a:t>Candidate buffers and event vectors are caller-owned and reused — 200 tourists at 10 Hz is 2,000 allocations a second otherwise.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43400" y="3867911"/>
            <a:ext cx="3502152" cy="1874519"/>
          </a:xfrm>
          <a:prstGeom prst="roundRect">
            <a:avLst>
              <a:gd name="adj" fmla="val 7000"/>
            </a:avLst>
          </a:prstGeom>
          <a:solidFill>
            <a:srgbClr val="ED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Oval 20"/>
          <p:cNvSpPr/>
          <p:nvPr/>
        </p:nvSpPr>
        <p:spPr>
          <a:xfrm>
            <a:off x="4599432" y="4105655"/>
            <a:ext cx="347472" cy="347472"/>
          </a:xfrm>
          <a:prstGeom prst="ellipse">
            <a:avLst/>
          </a:prstGeom>
          <a:solidFill>
            <a:srgbClr val="4F7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56632" y="4142231"/>
            <a:ext cx="25603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250" b="1" i="0">
                <a:solidFill>
                  <a:srgbClr val="0F2620"/>
                </a:solidFill>
                <a:latin typeface="Calibri"/>
              </a:rPr>
              <a:t>Honest status marks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99432" y="4654296"/>
            <a:ext cx="2990088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F7068"/>
                </a:solidFill>
                <a:latin typeface="Calibri"/>
              </a:rPr>
              <a:t>The docs mark what is built and what is only designed. A stub is never presented as finished, and the naive baseline is never deleted.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46719" y="3867911"/>
            <a:ext cx="3502152" cy="1874519"/>
          </a:xfrm>
          <a:prstGeom prst="roundRect">
            <a:avLst>
              <a:gd name="adj" fmla="val 7000"/>
            </a:avLst>
          </a:prstGeom>
          <a:solidFill>
            <a:srgbClr val="ED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Oval 24"/>
          <p:cNvSpPr/>
          <p:nvPr/>
        </p:nvSpPr>
        <p:spPr>
          <a:xfrm>
            <a:off x="8302751" y="4105655"/>
            <a:ext cx="347472" cy="347472"/>
          </a:xfrm>
          <a:prstGeom prst="ellipse">
            <a:avLst/>
          </a:prstGeom>
          <a:solidFill>
            <a:srgbClr val="4F7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59951" y="4142231"/>
            <a:ext cx="25603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250" b="1" i="0">
                <a:solidFill>
                  <a:srgbClr val="0F2620"/>
                </a:solidFill>
                <a:latin typeface="Calibri"/>
              </a:rPr>
              <a:t>CI on every push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02751" y="4654296"/>
            <a:ext cx="2990088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F7068"/>
                </a:solidFill>
                <a:latin typeface="Calibri"/>
              </a:rPr>
              <a:t>GitHub Actions builds with g++, runs the suite, regenerates the dashboard from real data and publishes it; sanitizers run alongside.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6419088"/>
            <a:ext cx="3657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5F7068"/>
                </a:solidFill>
                <a:latin typeface="Calibri"/>
              </a:rPr>
              <a:t>safetrail  ·  Data Structures course project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454335" y="6419088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0" i="0">
                <a:solidFill>
                  <a:srgbClr val="5F7068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02336"/>
            <a:ext cx="1091153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4F7B3F"/>
                </a:solidFill>
                <a:latin typeface="Calibri"/>
              </a:rPr>
              <a:t>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11535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300" b="1" i="0">
                <a:solidFill>
                  <a:srgbClr val="0F2620"/>
                </a:solidFill>
                <a:latin typeface="Cambria"/>
              </a:rPr>
              <a:t>Where things live, and the loop we work in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5358384" cy="4069080"/>
          </a:xfrm>
          <a:prstGeom prst="roundRect">
            <a:avLst>
              <a:gd name="adj" fmla="val 7000"/>
            </a:avLst>
          </a:prstGeom>
          <a:solidFill>
            <a:srgbClr val="0F26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14400" y="1965960"/>
            <a:ext cx="2651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7FB069"/>
                </a:solidFill>
                <a:latin typeface="Courier New"/>
              </a:rPr>
              <a:t>include/safetrail/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11880" y="1984248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9FB3A8"/>
                </a:solidFill>
                <a:latin typeface="Calibri"/>
              </a:rPr>
              <a:t>headers — the design lives here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77440"/>
            <a:ext cx="2651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7FB069"/>
                </a:solidFill>
                <a:latin typeface="Courier New"/>
              </a:rPr>
              <a:t xml:space="preserve">   geo/  index/  ds/  graph/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11880" y="2395728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9FB3A8"/>
                </a:solidFill>
                <a:latin typeface="Calibri"/>
              </a:rPr>
              <a:t>the graded core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788920"/>
            <a:ext cx="2651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7FB069"/>
                </a:solidFill>
                <a:latin typeface="Courier New"/>
              </a:rPr>
              <a:t xml:space="preserve">   fence/  track/  group/  alert/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11880" y="2807208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9FB3A8"/>
                </a:solidFill>
                <a:latin typeface="Calibri"/>
              </a:rPr>
              <a:t>the domain modules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200400"/>
            <a:ext cx="2651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7FB069"/>
                </a:solidFill>
                <a:latin typeface="Courier New"/>
              </a:rPr>
              <a:t>src/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1880" y="3218688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9FB3A8"/>
                </a:solidFill>
                <a:latin typeface="Calibri"/>
              </a:rPr>
              <a:t>implementations, mirrors include/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611880"/>
            <a:ext cx="2651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7FB069"/>
                </a:solidFill>
                <a:latin typeface="Courier New"/>
              </a:rPr>
              <a:t>apps/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3630168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9FB3A8"/>
                </a:solidFill>
                <a:latin typeface="Calibri"/>
              </a:rPr>
              <a:t>safetrail_headless · safetrail_bench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023360"/>
            <a:ext cx="2651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7FB069"/>
                </a:solidFill>
                <a:latin typeface="Courier New"/>
              </a:rPr>
              <a:t>tests/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1880" y="4041648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9FB3A8"/>
                </a:solidFill>
                <a:latin typeface="Calibri"/>
              </a:rPr>
              <a:t>per-structure units + golden replays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434840"/>
            <a:ext cx="2651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7FB069"/>
                </a:solidFill>
                <a:latin typeface="Courier New"/>
              </a:rPr>
              <a:t>bench/results/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11880" y="4453127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9FB3A8"/>
                </a:solidFill>
                <a:latin typeface="Calibri"/>
              </a:rPr>
              <a:t>CSVs, committed as evidence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846320"/>
            <a:ext cx="2651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7FB069"/>
                </a:solidFill>
                <a:latin typeface="Courier New"/>
              </a:rPr>
              <a:t>data/  tools/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11880" y="4864607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9FB3A8"/>
                </a:solidFill>
                <a:latin typeface="Calibri"/>
              </a:rPr>
              <a:t>OSM extracts and the prep scripts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257800"/>
            <a:ext cx="2651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7FB069"/>
                </a:solidFill>
                <a:latin typeface="Courier New"/>
              </a:rPr>
              <a:t>docs/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11880" y="5276088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9FB3A8"/>
                </a:solidFill>
                <a:latin typeface="Calibri"/>
              </a:rPr>
              <a:t>thirteen design documents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90488" y="1737360"/>
            <a:ext cx="5358384" cy="914400"/>
          </a:xfrm>
          <a:prstGeom prst="roundRect">
            <a:avLst>
              <a:gd name="adj" fmla="val 7000"/>
            </a:avLst>
          </a:prstGeom>
          <a:solidFill>
            <a:srgbClr val="ED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Oval 23"/>
          <p:cNvSpPr/>
          <p:nvPr/>
        </p:nvSpPr>
        <p:spPr>
          <a:xfrm>
            <a:off x="6428232" y="2011679"/>
            <a:ext cx="347472" cy="347472"/>
          </a:xfrm>
          <a:prstGeom prst="ellipse">
            <a:avLst/>
          </a:prstGeom>
          <a:solidFill>
            <a:srgbClr val="4F7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76288" y="1865376"/>
            <a:ext cx="45720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0F2620"/>
                </a:solidFill>
                <a:latin typeface="Calibri"/>
              </a:rPr>
              <a:t>Read the header first</a:t>
            </a:r>
          </a:p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5F7068"/>
                </a:solidFill>
                <a:latin typeface="Calibri"/>
              </a:rPr>
              <a:t>Interfaces and reasoning are written before any code — picking up a task is fill-in-the-blanks, not a blank page.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90488" y="2779776"/>
            <a:ext cx="5358384" cy="914400"/>
          </a:xfrm>
          <a:prstGeom prst="roundRect">
            <a:avLst>
              <a:gd name="adj" fmla="val 7000"/>
            </a:avLst>
          </a:prstGeom>
          <a:solidFill>
            <a:srgbClr val="ED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Oval 26"/>
          <p:cNvSpPr/>
          <p:nvPr/>
        </p:nvSpPr>
        <p:spPr>
          <a:xfrm>
            <a:off x="6428232" y="3054096"/>
            <a:ext cx="347472" cy="347472"/>
          </a:xfrm>
          <a:prstGeom prst="ellipse">
            <a:avLst/>
          </a:prstGeom>
          <a:solidFill>
            <a:srgbClr val="4F7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76288" y="2907792"/>
            <a:ext cx="45720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0F2620"/>
                </a:solidFill>
                <a:latin typeface="Calibri"/>
              </a:rPr>
              <a:t>Write the test</a:t>
            </a:r>
          </a:p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5F7068"/>
                </a:solidFill>
                <a:latin typeface="Calibri"/>
              </a:rPr>
              <a:t>Usually against an oracle. That is how all three of our real bugs surfaced.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90488" y="3822191"/>
            <a:ext cx="5358384" cy="914400"/>
          </a:xfrm>
          <a:prstGeom prst="roundRect">
            <a:avLst>
              <a:gd name="adj" fmla="val 7000"/>
            </a:avLst>
          </a:prstGeom>
          <a:solidFill>
            <a:srgbClr val="ED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Oval 29"/>
          <p:cNvSpPr/>
          <p:nvPr/>
        </p:nvSpPr>
        <p:spPr>
          <a:xfrm>
            <a:off x="6428232" y="4096511"/>
            <a:ext cx="347472" cy="347472"/>
          </a:xfrm>
          <a:prstGeom prst="ellipse">
            <a:avLst/>
          </a:prstGeom>
          <a:solidFill>
            <a:srgbClr val="4F7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76288" y="3950207"/>
            <a:ext cx="45720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0F2620"/>
                </a:solidFill>
                <a:latin typeface="Calibri"/>
              </a:rPr>
              <a:t>Implement, then measure</a:t>
            </a:r>
          </a:p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5F7068"/>
                </a:solidFill>
                <a:latin typeface="Calibri"/>
              </a:rPr>
              <a:t>A benchmark row for every index; a CSV committed with the result.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90488" y="4864608"/>
            <a:ext cx="5358384" cy="914400"/>
          </a:xfrm>
          <a:prstGeom prst="roundRect">
            <a:avLst>
              <a:gd name="adj" fmla="val 7000"/>
            </a:avLst>
          </a:prstGeom>
          <a:solidFill>
            <a:srgbClr val="ED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Oval 32"/>
          <p:cNvSpPr/>
          <p:nvPr/>
        </p:nvSpPr>
        <p:spPr>
          <a:xfrm>
            <a:off x="6428232" y="5138928"/>
            <a:ext cx="347472" cy="347472"/>
          </a:xfrm>
          <a:prstGeom prst="ellipse">
            <a:avLst/>
          </a:prstGeom>
          <a:solidFill>
            <a:srgbClr val="4F7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76288" y="4992624"/>
            <a:ext cx="45720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0F2620"/>
                </a:solidFill>
                <a:latin typeface="Calibri"/>
              </a:rPr>
              <a:t>Write it down</a:t>
            </a:r>
          </a:p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5F7068"/>
                </a:solidFill>
                <a:latin typeface="Calibri"/>
              </a:rPr>
              <a:t>Every change gets a plain-language entry in docs/WORKLOG.md — what changed, why, and what it did.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90488" y="5989320"/>
            <a:ext cx="535838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F7068"/>
                </a:solidFill>
                <a:latin typeface="Courier New"/>
              </a:rPr>
              <a:t>branch → pull request → CI → merge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6419088"/>
            <a:ext cx="3657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5F7068"/>
                </a:solidFill>
                <a:latin typeface="Calibri"/>
              </a:rPr>
              <a:t>safetrail  ·  Data Structures course project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454335" y="6419088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0" i="0">
                <a:solidFill>
                  <a:srgbClr val="5F7068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02336"/>
            <a:ext cx="1091153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4F7B3F"/>
                </a:solidFill>
                <a:latin typeface="Calibri"/>
              </a:rPr>
              <a:t>WHERE WE 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11535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300" b="1" i="0">
                <a:solidFill>
                  <a:srgbClr val="0F2620"/>
                </a:solidFill>
                <a:latin typeface="Cambria"/>
              </a:rPr>
              <a:t>Built, and what we are working on next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5358384" cy="4114800"/>
          </a:xfrm>
          <a:prstGeom prst="roundRect">
            <a:avLst>
              <a:gd name="adj" fmla="val 7000"/>
            </a:avLst>
          </a:prstGeom>
          <a:solidFill>
            <a:srgbClr val="ED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32688" y="1938528"/>
            <a:ext cx="4754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1" i="0">
                <a:solidFill>
                  <a:srgbClr val="4F7B3F"/>
                </a:solidFill>
                <a:latin typeface="Cambria"/>
              </a:rPr>
              <a:t>Standing today</a:t>
            </a:r>
          </a:p>
        </p:txBody>
      </p:sp>
      <p:sp>
        <p:nvSpPr>
          <p:cNvPr id="6" name="Oval 5"/>
          <p:cNvSpPr/>
          <p:nvPr/>
        </p:nvSpPr>
        <p:spPr>
          <a:xfrm>
            <a:off x="932688" y="2510028"/>
            <a:ext cx="68580" cy="68580"/>
          </a:xfrm>
          <a:prstGeom prst="ellipse">
            <a:avLst/>
          </a:prstGeom>
          <a:solidFill>
            <a:srgbClr val="4F7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" y="2432304"/>
            <a:ext cx="4572000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>
                <a:solidFill>
                  <a:srgbClr val="1E2E27"/>
                </a:solidFill>
                <a:latin typeface="Calibri"/>
              </a:rPr>
              <a:t>Every structure in the inventory is implemented and exercised — nothing is left marked “designed but not built”</a:t>
            </a:r>
          </a:p>
        </p:txBody>
      </p:sp>
      <p:sp>
        <p:nvSpPr>
          <p:cNvPr id="8" name="Oval 7"/>
          <p:cNvSpPr/>
          <p:nvPr/>
        </p:nvSpPr>
        <p:spPr>
          <a:xfrm>
            <a:off x="932688" y="3314700"/>
            <a:ext cx="68580" cy="68580"/>
          </a:xfrm>
          <a:prstGeom prst="ellipse">
            <a:avLst/>
          </a:prstGeom>
          <a:solidFill>
            <a:srgbClr val="4F7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5568" y="3236976"/>
            <a:ext cx="4572000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>
                <a:solidFill>
                  <a:srgbClr val="1E2E27"/>
                </a:solidFill>
                <a:latin typeface="Calibri"/>
              </a:rPr>
              <a:t>The engine runs end to end on real OpenStreetMap geography and exports the dashboard in one command</a:t>
            </a:r>
          </a:p>
        </p:txBody>
      </p:sp>
      <p:sp>
        <p:nvSpPr>
          <p:cNvPr id="10" name="Oval 9"/>
          <p:cNvSpPr/>
          <p:nvPr/>
        </p:nvSpPr>
        <p:spPr>
          <a:xfrm>
            <a:off x="932688" y="4119372"/>
            <a:ext cx="68580" cy="68580"/>
          </a:xfrm>
          <a:prstGeom prst="ellipse">
            <a:avLst/>
          </a:prstGeom>
          <a:solidFill>
            <a:srgbClr val="4F7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5568" y="4041648"/>
            <a:ext cx="4572000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>
                <a:solidFill>
                  <a:srgbClr val="1E2E27"/>
                </a:solidFill>
                <a:latin typeface="Calibri"/>
              </a:rPr>
              <a:t>Routing, matching and dispatch landed last, along with offline reconciliation and the QR digital ID</a:t>
            </a:r>
          </a:p>
        </p:txBody>
      </p:sp>
      <p:sp>
        <p:nvSpPr>
          <p:cNvPr id="12" name="Oval 11"/>
          <p:cNvSpPr/>
          <p:nvPr/>
        </p:nvSpPr>
        <p:spPr>
          <a:xfrm>
            <a:off x="932688" y="4924044"/>
            <a:ext cx="68580" cy="68580"/>
          </a:xfrm>
          <a:prstGeom prst="ellipse">
            <a:avLst/>
          </a:prstGeom>
          <a:solidFill>
            <a:srgbClr val="4F7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5568" y="4846320"/>
            <a:ext cx="4572000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>
                <a:solidFill>
                  <a:srgbClr val="1E2E27"/>
                </a:solidFill>
                <a:latin typeface="Calibri"/>
              </a:rPr>
              <a:t>The zone editor draws and validates zones the C++ engine loads unchanged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0488" y="1737360"/>
            <a:ext cx="5358384" cy="4114800"/>
          </a:xfrm>
          <a:prstGeom prst="roundRect">
            <a:avLst>
              <a:gd name="adj" fmla="val 7000"/>
            </a:avLst>
          </a:prstGeom>
          <a:solidFill>
            <a:srgbClr val="ED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483096" y="1938528"/>
            <a:ext cx="4754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1" i="0">
                <a:solidFill>
                  <a:srgbClr val="E8833A"/>
                </a:solidFill>
                <a:latin typeface="Cambria"/>
              </a:rPr>
              <a:t>Next</a:t>
            </a:r>
          </a:p>
        </p:txBody>
      </p:sp>
      <p:sp>
        <p:nvSpPr>
          <p:cNvPr id="16" name="Oval 15"/>
          <p:cNvSpPr/>
          <p:nvPr/>
        </p:nvSpPr>
        <p:spPr>
          <a:xfrm>
            <a:off x="6483096" y="2510028"/>
            <a:ext cx="68580" cy="68580"/>
          </a:xfrm>
          <a:prstGeom prst="ellipse">
            <a:avLst/>
          </a:prstGeom>
          <a:solidFill>
            <a:srgbClr val="E88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65976" y="2432304"/>
            <a:ext cx="4572000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>
                <a:solidFill>
                  <a:srgbClr val="1E2E27"/>
                </a:solidFill>
                <a:latin typeface="Calibri"/>
              </a:rPr>
              <a:t>Console polish + structure visibility: make the dashboard read like an operator console and surface the quadtree prune, the rewind, and the Merkle proof</a:t>
            </a:r>
          </a:p>
        </p:txBody>
      </p:sp>
      <p:sp>
        <p:nvSpPr>
          <p:cNvPr id="18" name="Oval 17"/>
          <p:cNvSpPr/>
          <p:nvPr/>
        </p:nvSpPr>
        <p:spPr>
          <a:xfrm>
            <a:off x="6483096" y="3314700"/>
            <a:ext cx="68580" cy="68580"/>
          </a:xfrm>
          <a:prstGeom prst="ellipse">
            <a:avLst/>
          </a:prstGeom>
          <a:solidFill>
            <a:srgbClr val="E88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65976" y="3236976"/>
            <a:ext cx="4572000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>
                <a:solidFill>
                  <a:srgbClr val="1E2E27"/>
                </a:solidFill>
                <a:latin typeface="Calibri"/>
              </a:rPr>
              <a:t>The remaining measurements: adaptive-sampling recall curve, serialised index size, observed clock skew</a:t>
            </a:r>
          </a:p>
        </p:txBody>
      </p:sp>
      <p:sp>
        <p:nvSpPr>
          <p:cNvPr id="20" name="Oval 19"/>
          <p:cNvSpPr/>
          <p:nvPr/>
        </p:nvSpPr>
        <p:spPr>
          <a:xfrm>
            <a:off x="6483096" y="4119372"/>
            <a:ext cx="68580" cy="68580"/>
          </a:xfrm>
          <a:prstGeom prst="ellipse">
            <a:avLst/>
          </a:prstGeom>
          <a:solidFill>
            <a:srgbClr val="E88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65976" y="4041648"/>
            <a:ext cx="4572000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>
                <a:solidFill>
                  <a:srgbClr val="1E2E27"/>
                </a:solidFill>
                <a:latin typeface="Calibri"/>
              </a:rPr>
              <a:t>A second mobility model, so the results are not tied to random waypoint</a:t>
            </a:r>
          </a:p>
        </p:txBody>
      </p:sp>
      <p:sp>
        <p:nvSpPr>
          <p:cNvPr id="22" name="Oval 21"/>
          <p:cNvSpPr/>
          <p:nvPr/>
        </p:nvSpPr>
        <p:spPr>
          <a:xfrm>
            <a:off x="6483096" y="4924044"/>
            <a:ext cx="68580" cy="68580"/>
          </a:xfrm>
          <a:prstGeom prst="ellipse">
            <a:avLst/>
          </a:prstGeom>
          <a:solidFill>
            <a:srgbClr val="E88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65976" y="4846320"/>
            <a:ext cx="4572000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>
                <a:solidFill>
                  <a:srgbClr val="1E2E27"/>
                </a:solidFill>
                <a:latin typeface="Calibri"/>
              </a:rPr>
              <a:t>Fold the zone editor's output into the live pipeline as a first-class authoring path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053328"/>
            <a:ext cx="1091153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5F7068"/>
                </a:solidFill>
                <a:latin typeface="Calibri"/>
              </a:rPr>
              <a:t>Status is tracked in the docs with explicit built / designed marks, and every change is logged in docs/WORKLOG.md.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6419088"/>
            <a:ext cx="3657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5F7068"/>
                </a:solidFill>
                <a:latin typeface="Calibri"/>
              </a:rPr>
              <a:t>safetrail  ·  Data Structures course project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454335" y="6419088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0" i="0">
                <a:solidFill>
                  <a:srgbClr val="5F7068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6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02336"/>
            <a:ext cx="1091153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7FB069"/>
                </a:solidFill>
                <a:latin typeface="Calibri"/>
              </a:rPr>
              <a:t>IN ONE SENTENCE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920240"/>
            <a:ext cx="1042416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2700" b="1" i="0">
                <a:solidFill>
                  <a:srgbClr val="FFFFFF"/>
                </a:solidFill>
                <a:latin typeface="Cambria"/>
              </a:rPr>
              <a:t>We are building the geofencing engine every other team imports — the quadtree, the R-tree, the persistent time-travel index, the containment geometry, the tamper-evident log — by hand, and analysing it honestly, including where it degrades.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4800600"/>
            <a:ext cx="3502152" cy="960120"/>
          </a:xfrm>
          <a:prstGeom prst="roundRect">
            <a:avLst>
              <a:gd name="adj" fmla="val 7000"/>
            </a:avLst>
          </a:prstGeom>
          <a:solidFill>
            <a:srgbClr val="1B3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14400" y="4983480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E8833A"/>
                </a:solidFill>
                <a:latin typeface="Calibri"/>
              </a:rPr>
              <a:t>REPOSITORY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257800"/>
            <a:ext cx="3063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ourier New"/>
              </a:rPr>
              <a:t>github.com/adivishall/safetrail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4800600"/>
            <a:ext cx="3502152" cy="960120"/>
          </a:xfrm>
          <a:prstGeom prst="roundRect">
            <a:avLst>
              <a:gd name="adj" fmla="val 7000"/>
            </a:avLst>
          </a:prstGeom>
          <a:solidFill>
            <a:srgbClr val="1B3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4617720" y="4983480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E8833A"/>
                </a:solidFill>
                <a:latin typeface="Calibri"/>
              </a:rPr>
              <a:t>LIVE DASHBOARD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7720" y="5257800"/>
            <a:ext cx="3063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ourier New"/>
              </a:rPr>
              <a:t>adivishall.github.io/safetrail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19" y="4800600"/>
            <a:ext cx="3502152" cy="960120"/>
          </a:xfrm>
          <a:prstGeom prst="roundRect">
            <a:avLst>
              <a:gd name="adj" fmla="val 7000"/>
            </a:avLst>
          </a:prstGeom>
          <a:solidFill>
            <a:srgbClr val="1B3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321040" y="4983480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E8833A"/>
                </a:solidFill>
                <a:latin typeface="Calibri"/>
              </a:rPr>
              <a:t>THE LONG VERSION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5257800"/>
            <a:ext cx="3063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ourier New"/>
              </a:rPr>
              <a:t>docs/PRESENTATION.md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19088"/>
            <a:ext cx="3657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9FB3A8"/>
                </a:solidFill>
                <a:latin typeface="Calibri"/>
              </a:rPr>
              <a:t>safetrail  ·  Data Structures course project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54335" y="6419088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0" i="0">
                <a:solidFill>
                  <a:srgbClr val="9FB3A8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safetrail — project overview</dc:title>
  <dc:subject>What we're building, what we're using, and how we're building it</dc:subject>
  <dc:creator>safetrail team</dc:creator>
  <cp:keywords/>
  <dc:description>Deck source: scratchpad build_deck.py. Regenerate rather than hand-editing if the underlying docs change.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