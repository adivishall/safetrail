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0b93c5-ef5c-93b0-6deb-8d34738db58c}">
          <p14:sldIdLst>
            <p14:sldId id="256"/>
            <p14:sldId id="257"/>
            <p14:sldId id="258"/>
          </p14:sldIdLst>
        </p14:section>
        <p14:section name="Design" id="{1de9effa-66ec-9ae6-bd85-3cacb9ed9912}">
          <p14:sldIdLst>
            <p14:sldId id="259"/>
            <p14:sldId id="260"/>
            <p14:sldId id="261"/>
          </p14:sldIdLst>
        </p14:section>
        <p14:section name="Evidence" id="{6f23959e-5896-a242-ece0-aa8cd334a540}">
          <p14:sldIdLst>
            <p14:sldId id="262"/>
            <p14:sldId id="263"/>
            <p14:sldId id="264"/>
            <p14:sldId id="265"/>
          </p14:sldIdLst>
        </p14:section>
        <p14:section name="Demo" id="{65139468-8e11-8dba-1c29-3d77693c6f7a}">
          <p14:sldIdLst>
            <p14:sldId id="266"/>
          </p14:sldIdLst>
        </p14:section>
        <p14:section name="Close" id="{aa019227-f0c3-5dfd-a020-c95583f6c75d}">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SafeTrail is a geofencing and incident-response system for tourist safety in low-connectivity regions, built on hand-written data structures in C++17.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hills around Shillong, cliffs, rivers and closed roads are where people get hurt, and phones lose signal exactly there. Help is late when nobody knows who is where. Checking every position against every hazard zone is O(n) per GPS fix — the cost the whole design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opt in. Every fix is checked against hazard zones, with GPS uncertainty treated as a disc, not a point. Transitions become alerts, related alerts become incidents, the nearest responder is routed along roads, groups that split are noticed, phones that go offline keep working and sync later, and everything is kept in a tamper-evident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engine — indexes, geometry, the evaluator; the platform — users, consent, sessions, alerts, incidents, groups, responders, history, offline sync; and a single-threaded HTTP server with a web console. No database, no map service, no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Brute force as the oracle; a quadtree that splits space; an R-tree that groups items, bulk-loaded with STR; an AVL interval tree for validity windows; a persistent quadtree for every past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binary heap for Dijkstra, A* and alert triage; union-find with rollback for groups and incidents; an open-addressing hash table for users, sessions and sync; a timer wheel for escalation; a ring buffer for recent fixes; a k-d tree for snapping to the road network; a Merkle tree for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100,000 zones in one district the R-tree answers 224 times faster than a scan, the quadtree 33 times — identical answers. At constant density the speedups keep growing, because the answer size k is what bounds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ingests a fix — validation, ordering checks, trail, evaluation, alerting — in about 3 microseconds, flat from 10 to 5,000 users. That benchmark also found a real bug: alert bookkeeping was quadratic until alerts were indexed per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fast structure has an oracle; invariants are checked after every operation; 51 test files, 12,066 checks; 28 injected bugs, all caught; byte-identical output on macOS and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Opt-in only, nobody else can switch it on, stop any time, history expires and can be erased, every look at someone's location is audited, responders see a person only while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docs/final/LIVE_DEMO_SCRIPT.md has the exact steps and fallbacks.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Arrays and ring buffers, stacks, trees and recursion, BSTs and AVL rotations, augmented trees, hashing with collision handling, heaps and priority queues, graphs and adjacency lists, Dijkstra and A*, union-find, binary search, complexity and measurement. Beyond: persistence, Merkle proofs, Lamport clocks, computational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people; an in-memory server; the OSM hazard polygons are thin, so 'uncertain' is often the honest answer; benchmarks from one laptop. Next: persistence, real GPS traces, a phone app running the same offline evaluator, TLS and Argon2.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the code, tests, benchmarks and this deck are in the repository, and every number on these slides is regenerated by make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feTrail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85216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2900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feTrail 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SafeTrail · Data Structures project</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feTrail Divid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6424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566160"/>
            <a:ext cx="11064240" cy="23774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852160" cy="1280160"/>
          </a:xfrm>
          <a:prstGeom prst="rect">
            <a:avLst/>
          </a:prstGeom>
          <a:noFill/>
          <a:ln/>
        </p:spPr>
        <p:txBody>
          <a:bodyPr wrap="square" lIns="0" tIns="0" rIns="0" bIns="0" rtlCol="0" anchor="b"/>
          <a:lstStyle/>
          <a:p>
            <a:pPr algn="l" indent="0" marL="0">
              <a:buNone/>
            </a:pPr>
            <a:r>
              <a:rPr lang="en-US" sz="5400" b="1" dirty="0">
                <a:solidFill>
                  <a:schemeClr val="bg1"/>
                </a:solidFill>
              </a:rPr>
              <a:t>SafeTrail</a:t>
            </a:r>
            <a:endParaRPr lang="en-US" sz="5400" dirty="0"/>
          </a:p>
        </p:txBody>
      </p:sp>
      <p:sp>
        <p:nvSpPr>
          <p:cNvPr id="3" name="Text 0"/>
          <p:cNvSpPr/>
          <p:nvPr>
            <p:ph idx="101" type="body" hasCustomPrompt="1"/>
          </p:nvPr>
        </p:nvSpPr>
        <p:spPr>
          <a:xfrm>
            <a:off x="548640" y="3429000"/>
            <a:ext cx="5669280" cy="1463040"/>
          </a:xfrm>
          <a:prstGeom prst="rect">
            <a:avLst/>
          </a:prstGeom>
          <a:noFill/>
          <a:ln/>
        </p:spPr>
        <p:txBody>
          <a:bodyPr wrap="square" lIns="0" tIns="0" rIns="0" bIns="0" rtlCol="0" anchor="t"/>
          <a:lstStyle/>
          <a:p>
            <a:pPr algn="l" indent="0" marL="0">
              <a:buNone/>
            </a:pPr>
            <a:r>
              <a:rPr lang="en-US" sz="2000" dirty="0">
                <a:solidFill>
                  <a:schemeClr val="bg2"/>
                </a:solidFill>
              </a:rPr>
              <a:t>Geofencing and incident response for tourist safety, built on hand-written data structures in C++17</a:t>
            </a:r>
            <a:endParaRPr lang="en-US" sz="2000" dirty="0"/>
          </a:p>
        </p:txBody>
      </p:sp>
      <p:sp>
        <p:nvSpPr>
          <p:cNvPr id="4" name="footer line"/>
          <p:cNvSpPr txBox="1"/>
          <p:nvPr/>
        </p:nvSpPr>
        <p:spPr>
          <a:xfrm>
            <a:off x="548640" y="6035040"/>
            <a:ext cx="5669280" cy="320040"/>
          </a:xfrm>
          <a:prstGeom prst="rect">
            <a:avLst/>
          </a:prstGeom>
          <a:noFill/>
          <a:ln/>
        </p:spPr>
        <p:txBody>
          <a:bodyPr wrap="square" lIns="0" tIns="0" rIns="0" bIns="0" rtlCol="0" anchor="ctr"/>
          <a:lstStyle/>
          <a:p>
            <a:pPr indent="0" marL="0">
              <a:buNone/>
            </a:pPr>
            <a:r>
              <a:rPr lang="en-US" sz="1200" dirty="0">
                <a:solidFill>
                  <a:schemeClr val="bg2"/>
                </a:solidFill>
              </a:rPr>
              <a:t>Data Structures course project · github.com/adivishall/safetrail</a:t>
            </a:r>
            <a:endParaRPr lang="en-US" sz="1200" dirty="0"/>
          </a:p>
        </p:txBody>
      </p:sp>
      <p:pic>
        <p:nvPicPr>
          <p:cNvPr id="5" name="live monitoring screenshot" descr="Live monitoring console">    </p:cNvPr>
          <p:cNvPicPr>
            <a:picLocks noChangeAspect="1"/>
          </p:cNvPicPr>
          <p:nvPr/>
        </p:nvPicPr>
        <p:blipFill>
          <a:blip r:embed="rId1"/>
          <a:stretch>
            <a:fillRect/>
          </a:stretch>
        </p:blipFill>
        <p:spPr>
          <a:xfrm>
            <a:off x="6675120" y="1051560"/>
            <a:ext cx="5120640" cy="3200400"/>
          </a:xfrm>
          <a:prstGeom prst="rect">
            <a:avLst/>
          </a:prstGeom>
        </p:spPr>
      </p:pic>
      <p:sp>
        <p:nvSpPr>
          <p:cNvPr id="6" name="screenshot caption"/>
          <p:cNvSpPr txBox="1"/>
          <p:nvPr/>
        </p:nvSpPr>
        <p:spPr>
          <a:xfrm>
            <a:off x="6675120" y="4343400"/>
            <a:ext cx="5120640" cy="548640"/>
          </a:xfrm>
          <a:prstGeom prst="rect">
            <a:avLst/>
          </a:prstGeom>
          <a:noFill/>
          <a:ln/>
        </p:spPr>
        <p:txBody>
          <a:bodyPr wrap="square" lIns="0" tIns="0" rIns="0" bIns="0" rtlCol="0" anchor="ctr"/>
          <a:lstStyle/>
          <a:p>
            <a:pPr indent="0" marL="0">
              <a:buNone/>
            </a:pPr>
            <a:r>
              <a:rPr lang="en-US" sz="1100" dirty="0">
                <a:solidFill>
                  <a:schemeClr val="bg2"/>
                </a:solidFill>
              </a:rPr>
              <a:t>Live Monitoring: simulated tourists (SIM) over real OpenStreetMap hazard zones and roads around Shillong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Where people get hurt, phones lose signal</a:t>
            </a:r>
            <a:endParaRPr lang="en-US" sz="3600" dirty="0"/>
          </a:p>
        </p:txBody>
      </p:sp>
      <p:sp>
        <p:nvSpPr>
          <p:cNvPr id="4" name="problem bullets"/>
          <p:cNvSpPr txBox="1"/>
          <p:nvPr/>
        </p:nvSpPr>
        <p:spPr>
          <a:xfrm>
            <a:off x="548640" y="1463040"/>
            <a:ext cx="5669280" cy="3108960"/>
          </a:xfrm>
          <a:prstGeom prst="rect">
            <a:avLst/>
          </a:prstGeom>
          <a:noFill/>
          <a:ln/>
        </p:spPr>
        <p:txBody>
          <a:bodyPr wrap="square" lIns="0" tIns="0" rIns="0" bIns="0" rtlCol="0" anchor="ctr"/>
          <a:lstStyle/>
          <a:p>
            <a:pPr marL="342900" indent="-342900">
              <a:spcAft>
                <a:spcPts val="1200"/>
              </a:spcAft>
              <a:buSzPct val="100000"/>
              <a:buChar char="•"/>
            </a:pPr>
            <a:r>
              <a:rPr lang="en-US" sz="1800" dirty="0">
                <a:solidFill>
                  <a:schemeClr val="bg1"/>
                </a:solidFill>
              </a:rPr>
              <a:t>Remote treks in Meghalaya: cliffs, rivers, closed roads</a:t>
            </a:r>
            <a:endParaRPr lang="en-US" sz="1800" dirty="0"/>
          </a:p>
          <a:p>
            <a:pPr marL="342900" indent="-342900">
              <a:spcAft>
                <a:spcPts val="1200"/>
              </a:spcAft>
              <a:buSzPct val="100000"/>
              <a:buChar char="•"/>
            </a:pPr>
            <a:r>
              <a:rPr lang="en-US" sz="1800" dirty="0">
                <a:solidFill>
                  <a:schemeClr val="bg1"/>
                </a:solidFill>
              </a:rPr>
              <a:t>Help arrives late when nobody knows who is where</a:t>
            </a:r>
            <a:endParaRPr lang="en-US" sz="1800" dirty="0"/>
          </a:p>
          <a:p>
            <a:pPr marL="342900" indent="-342900">
              <a:spcAft>
                <a:spcPts val="1200"/>
              </a:spcAft>
              <a:buSzPct val="100000"/>
              <a:buChar char="•"/>
            </a:pPr>
            <a:r>
              <a:rPr lang="en-US" sz="1800" dirty="0">
                <a:solidFill>
                  <a:schemeClr val="bg1"/>
                </a:solidFill>
              </a:rPr>
              <a:t>GPS is noisy: a fix is a disc of ±5–35 m, not a point</a:t>
            </a:r>
            <a:endParaRPr lang="en-US" sz="1800" dirty="0"/>
          </a:p>
          <a:p>
            <a:pPr marL="342900" indent="-342900">
              <a:spcAft>
                <a:spcPts val="1200"/>
              </a:spcAft>
              <a:buSzPct val="100000"/>
              <a:buChar char="•"/>
            </a:pPr>
            <a:r>
              <a:rPr lang="en-US" sz="1800" dirty="0">
                <a:solidFill>
                  <a:schemeClr val="bg1"/>
                </a:solidFill>
              </a:rPr>
              <a:t>Every fix must be checked against every zone that could contain it</a:t>
            </a:r>
            <a:endParaRPr lang="en-US" sz="1800" dirty="0"/>
          </a:p>
        </p:txBody>
      </p:sp>
      <p:sp>
        <p:nvSpPr>
          <p:cNvPr id="5" name="cost card"/>
          <p:cNvSpPr/>
          <p:nvPr/>
        </p:nvSpPr>
        <p:spPr>
          <a:xfrm>
            <a:off x="6675120" y="1463040"/>
            <a:ext cx="4937760" cy="4389120"/>
          </a:xfrm>
          <a:prstGeom prst="roundRect">
            <a:avLst>
              <a:gd name="adj" fmla="val 1667"/>
            </a:avLst>
          </a:prstGeom>
          <a:solidFill>
            <a:schemeClr val="tx2"/>
          </a:solidFill>
          <a:ln w="12700">
            <a:solidFill>
              <a:schemeClr val="tx2"/>
            </a:solidFill>
            <a:prstDash val="solid"/>
          </a:ln>
        </p:spPr>
      </p:sp>
      <p:sp>
        <p:nvSpPr>
          <p:cNvPr id="6" name="cost value"/>
          <p:cNvSpPr txBox="1"/>
          <p:nvPr/>
        </p:nvSpPr>
        <p:spPr>
          <a:xfrm>
            <a:off x="7040880" y="1737360"/>
            <a:ext cx="4389120" cy="822960"/>
          </a:xfrm>
          <a:prstGeom prst="rect">
            <a:avLst/>
          </a:prstGeom>
          <a:noFill/>
          <a:ln/>
        </p:spPr>
        <p:txBody>
          <a:bodyPr wrap="square" lIns="0" tIns="0" rIns="0" bIns="0" rtlCol="0" anchor="ctr"/>
          <a:lstStyle/>
          <a:p>
            <a:pPr indent="0" marL="0">
              <a:buNone/>
            </a:pPr>
            <a:r>
              <a:rPr lang="en-US" sz="4000" b="1" dirty="0">
                <a:solidFill>
                  <a:schemeClr val="accent2"/>
                </a:solidFill>
              </a:rPr>
              <a:t>O(n) per fix</a:t>
            </a:r>
            <a:endParaRPr lang="en-US" sz="4000" dirty="0"/>
          </a:p>
        </p:txBody>
      </p:sp>
      <p:sp>
        <p:nvSpPr>
          <p:cNvPr id="7" name="cost label"/>
          <p:cNvSpPr txBox="1"/>
          <p:nvPr/>
        </p:nvSpPr>
        <p:spPr>
          <a:xfrm>
            <a:off x="7040880" y="2542032"/>
            <a:ext cx="4389120" cy="548640"/>
          </a:xfrm>
          <a:prstGeom prst="rect">
            <a:avLst/>
          </a:prstGeom>
          <a:noFill/>
          <a:ln/>
        </p:spPr>
        <p:txBody>
          <a:bodyPr wrap="square" lIns="0" tIns="0" rIns="0" bIns="0" rtlCol="0" anchor="t"/>
          <a:lstStyle/>
          <a:p>
            <a:pPr indent="0" marL="0">
              <a:buNone/>
            </a:pPr>
            <a:r>
              <a:rPr lang="en-US" sz="1300" dirty="0">
                <a:solidFill>
                  <a:schemeClr val="bg2"/>
                </a:solidFill>
              </a:rPr>
              <a:t>a linear scan of every hazard zone, for every person, every second</a:t>
            </a:r>
            <a:endParaRPr lang="en-US" sz="1300" dirty="0"/>
          </a:p>
        </p:txBody>
      </p:sp>
      <p:sp>
        <p:nvSpPr>
          <p:cNvPr id="8" name="scale value"/>
          <p:cNvSpPr txBox="1"/>
          <p:nvPr/>
        </p:nvSpPr>
        <p:spPr>
          <a:xfrm>
            <a:off x="7040880" y="3154680"/>
            <a:ext cx="4389120" cy="822960"/>
          </a:xfrm>
          <a:prstGeom prst="rect">
            <a:avLst/>
          </a:prstGeom>
          <a:noFill/>
          <a:ln/>
        </p:spPr>
        <p:txBody>
          <a:bodyPr wrap="square" lIns="0" tIns="0" rIns="0" bIns="0" rtlCol="0" anchor="ctr"/>
          <a:lstStyle/>
          <a:p>
            <a:pPr indent="0" marL="0">
              <a:buNone/>
            </a:pPr>
            <a:r>
              <a:rPr lang="en-US" sz="4000" b="1" dirty="0">
                <a:solidFill>
                  <a:schemeClr val="accent1"/>
                </a:solidFill>
              </a:rPr>
              <a:t>100,000 zones</a:t>
            </a:r>
            <a:endParaRPr lang="en-US" sz="4000" dirty="0"/>
          </a:p>
        </p:txBody>
      </p:sp>
      <p:sp>
        <p:nvSpPr>
          <p:cNvPr id="9" name="scale label"/>
          <p:cNvSpPr txBox="1"/>
          <p:nvPr/>
        </p:nvSpPr>
        <p:spPr>
          <a:xfrm>
            <a:off x="7040880" y="3959352"/>
            <a:ext cx="4389120" cy="548640"/>
          </a:xfrm>
          <a:prstGeom prst="rect">
            <a:avLst/>
          </a:prstGeom>
          <a:noFill/>
          <a:ln/>
        </p:spPr>
        <p:txBody>
          <a:bodyPr wrap="square" lIns="0" tIns="0" rIns="0" bIns="0" rtlCol="0" anchor="t"/>
          <a:lstStyle/>
          <a:p>
            <a:pPr indent="0" marL="0">
              <a:buNone/>
            </a:pPr>
            <a:r>
              <a:rPr lang="en-US" sz="1300" dirty="0">
                <a:solidFill>
                  <a:schemeClr val="bg2"/>
                </a:solidFill>
              </a:rPr>
              <a:t>the scale the indexes are measured at</a:t>
            </a:r>
            <a:endParaRPr lang="en-US" sz="1300" dirty="0"/>
          </a:p>
        </p:txBody>
      </p:sp>
      <p:sp>
        <p:nvSpPr>
          <p:cNvPr id="10" name="offline value"/>
          <p:cNvSpPr txBox="1"/>
          <p:nvPr/>
        </p:nvSpPr>
        <p:spPr>
          <a:xfrm>
            <a:off x="7040880" y="4572000"/>
            <a:ext cx="4389120" cy="822960"/>
          </a:xfrm>
          <a:prstGeom prst="rect">
            <a:avLst/>
          </a:prstGeom>
          <a:noFill/>
          <a:ln/>
        </p:spPr>
        <p:txBody>
          <a:bodyPr wrap="square" lIns="0" tIns="0" rIns="0" bIns="0" rtlCol="0" anchor="ctr"/>
          <a:lstStyle/>
          <a:p>
            <a:pPr indent="0" marL="0">
              <a:buNone/>
            </a:pPr>
            <a:r>
              <a:rPr lang="en-US" sz="4000" b="1" dirty="0">
                <a:solidFill>
                  <a:schemeClr val="accent4"/>
                </a:solidFill>
              </a:rPr>
              <a:t>Offline</a:t>
            </a:r>
            <a:endParaRPr lang="en-US" sz="4000" dirty="0"/>
          </a:p>
        </p:txBody>
      </p:sp>
      <p:sp>
        <p:nvSpPr>
          <p:cNvPr id="11" name="offline label"/>
          <p:cNvSpPr txBox="1"/>
          <p:nvPr/>
        </p:nvSpPr>
        <p:spPr>
          <a:xfrm>
            <a:off x="7040880" y="5376672"/>
            <a:ext cx="4389120" cy="548640"/>
          </a:xfrm>
          <a:prstGeom prst="rect">
            <a:avLst/>
          </a:prstGeom>
          <a:noFill/>
          <a:ln/>
        </p:spPr>
        <p:txBody>
          <a:bodyPr wrap="square" lIns="0" tIns="0" rIns="0" bIns="0" rtlCol="0" anchor="t"/>
          <a:lstStyle/>
          <a:p>
            <a:pPr indent="0" marL="0">
              <a:buNone/>
            </a:pPr>
            <a:r>
              <a:rPr lang="en-US" sz="1300" dirty="0">
                <a:solidFill>
                  <a:schemeClr val="bg2"/>
                </a:solidFill>
              </a:rPr>
              <a:t>the phones that need it most have no network</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SafeTrail does, end to end</a:t>
            </a:r>
            <a:endParaRPr lang="en-US" sz="3600" dirty="0"/>
          </a:p>
        </p:txBody>
      </p:sp>
      <p:sp>
        <p:nvSpPr>
          <p:cNvPr id="4" name="capability 1"/>
          <p:cNvSpPr/>
          <p:nvPr/>
        </p:nvSpPr>
        <p:spPr>
          <a:xfrm>
            <a:off x="548640" y="1508760"/>
            <a:ext cx="2606040" cy="2057400"/>
          </a:xfrm>
          <a:prstGeom prst="roundRect">
            <a:avLst>
              <a:gd name="adj" fmla="val 3556"/>
            </a:avLst>
          </a:prstGeom>
          <a:solidFill>
            <a:schemeClr val="tx2"/>
          </a:solidFill>
          <a:ln w="12700">
            <a:solidFill>
              <a:schemeClr val="tx2"/>
            </a:solidFill>
            <a:prstDash val="solid"/>
          </a:ln>
        </p:spPr>
      </p:sp>
      <p:sp>
        <p:nvSpPr>
          <p:cNvPr id="5" name="capability 1 badge"/>
          <p:cNvSpPr/>
          <p:nvPr/>
        </p:nvSpPr>
        <p:spPr>
          <a:xfrm>
            <a:off x="777240" y="1764792"/>
            <a:ext cx="420624" cy="420624"/>
          </a:xfrm>
          <a:prstGeom prst="ellipse">
            <a:avLst/>
          </a:prstGeom>
          <a:solidFill>
            <a:schemeClr val="accent1"/>
          </a:solidFill>
          <a:ln w="12700">
            <a:solidFill>
              <a:schemeClr val="accent1"/>
            </a:solidFill>
            <a:prstDash val="solid"/>
          </a:ln>
        </p:spPr>
      </p:sp>
      <p:sp>
        <p:nvSpPr>
          <p:cNvPr id="6" name="capability 1 badge text"/>
          <p:cNvSpPr txBox="1"/>
          <p:nvPr/>
        </p:nvSpPr>
        <p:spPr>
          <a:xfrm>
            <a:off x="777240" y="176479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capability 1 title"/>
          <p:cNvSpPr txBox="1"/>
          <p:nvPr/>
        </p:nvSpPr>
        <p:spPr>
          <a:xfrm>
            <a:off x="777240" y="237744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Opt-in tracking</a:t>
            </a:r>
            <a:endParaRPr lang="en-US" sz="1800" dirty="0"/>
          </a:p>
        </p:txBody>
      </p:sp>
      <p:sp>
        <p:nvSpPr>
          <p:cNvPr id="8" name="capability 1 text"/>
          <p:cNvSpPr txBox="1"/>
          <p:nvPr/>
        </p:nvSpPr>
        <p:spPr>
          <a:xfrm>
            <a:off x="777240" y="2834640"/>
            <a:ext cx="2194560" cy="594360"/>
          </a:xfrm>
          <a:prstGeom prst="rect">
            <a:avLst/>
          </a:prstGeom>
          <a:noFill/>
          <a:ln/>
        </p:spPr>
        <p:txBody>
          <a:bodyPr wrap="square" lIns="0" tIns="0" rIns="0" bIns="0" rtlCol="0" anchor="t"/>
          <a:lstStyle/>
          <a:p>
            <a:pPr indent="0" marL="0">
              <a:buNone/>
            </a:pPr>
            <a:r>
              <a:rPr lang="en-US" sz="1400" dirty="0">
                <a:solidFill>
                  <a:schemeClr val="bg2"/>
                </a:solidFill>
              </a:rPr>
              <a:t>consent + session, per user</a:t>
            </a:r>
            <a:endParaRPr lang="en-US" sz="1400" dirty="0"/>
          </a:p>
        </p:txBody>
      </p:sp>
      <p:sp>
        <p:nvSpPr>
          <p:cNvPr id="9" name="capability 2"/>
          <p:cNvSpPr/>
          <p:nvPr/>
        </p:nvSpPr>
        <p:spPr>
          <a:xfrm>
            <a:off x="3355848" y="1508760"/>
            <a:ext cx="2606040" cy="2057400"/>
          </a:xfrm>
          <a:prstGeom prst="roundRect">
            <a:avLst>
              <a:gd name="adj" fmla="val 3556"/>
            </a:avLst>
          </a:prstGeom>
          <a:solidFill>
            <a:schemeClr val="tx2"/>
          </a:solidFill>
          <a:ln w="12700">
            <a:solidFill>
              <a:schemeClr val="tx2"/>
            </a:solidFill>
            <a:prstDash val="solid"/>
          </a:ln>
        </p:spPr>
      </p:sp>
      <p:sp>
        <p:nvSpPr>
          <p:cNvPr id="10" name="capability 2 badge"/>
          <p:cNvSpPr/>
          <p:nvPr/>
        </p:nvSpPr>
        <p:spPr>
          <a:xfrm>
            <a:off x="3584448" y="1764792"/>
            <a:ext cx="420624" cy="420624"/>
          </a:xfrm>
          <a:prstGeom prst="ellipse">
            <a:avLst/>
          </a:prstGeom>
          <a:solidFill>
            <a:schemeClr val="accent1"/>
          </a:solidFill>
          <a:ln w="12700">
            <a:solidFill>
              <a:schemeClr val="accent1"/>
            </a:solidFill>
            <a:prstDash val="solid"/>
          </a:ln>
        </p:spPr>
      </p:sp>
      <p:sp>
        <p:nvSpPr>
          <p:cNvPr id="11" name="capability 2 badge text"/>
          <p:cNvSpPr txBox="1"/>
          <p:nvPr/>
        </p:nvSpPr>
        <p:spPr>
          <a:xfrm>
            <a:off x="3584448" y="176479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capability 2 title"/>
          <p:cNvSpPr txBox="1"/>
          <p:nvPr/>
        </p:nvSpPr>
        <p:spPr>
          <a:xfrm>
            <a:off x="3584448" y="237744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Geofence</a:t>
            </a:r>
            <a:endParaRPr lang="en-US" sz="1800" dirty="0"/>
          </a:p>
        </p:txBody>
      </p:sp>
      <p:sp>
        <p:nvSpPr>
          <p:cNvPr id="13" name="capability 2 text"/>
          <p:cNvSpPr txBox="1"/>
          <p:nvPr/>
        </p:nvSpPr>
        <p:spPr>
          <a:xfrm>
            <a:off x="3584448" y="2834640"/>
            <a:ext cx="2194560" cy="594360"/>
          </a:xfrm>
          <a:prstGeom prst="rect">
            <a:avLst/>
          </a:prstGeom>
          <a:noFill/>
          <a:ln/>
        </p:spPr>
        <p:txBody>
          <a:bodyPr wrap="square" lIns="0" tIns="0" rIns="0" bIns="0" rtlCol="0" anchor="t"/>
          <a:lstStyle/>
          <a:p>
            <a:pPr indent="0" marL="0">
              <a:buNone/>
            </a:pPr>
            <a:r>
              <a:rPr lang="en-US" sz="1400" dirty="0">
                <a:solidFill>
                  <a:schemeClr val="bg2"/>
                </a:solidFill>
              </a:rPr>
              <a:t>inside / outside / uncertain</a:t>
            </a:r>
            <a:endParaRPr lang="en-US" sz="1400" dirty="0"/>
          </a:p>
        </p:txBody>
      </p:sp>
      <p:sp>
        <p:nvSpPr>
          <p:cNvPr id="14" name="capability 3"/>
          <p:cNvSpPr/>
          <p:nvPr/>
        </p:nvSpPr>
        <p:spPr>
          <a:xfrm>
            <a:off x="6163056" y="1508760"/>
            <a:ext cx="2606040" cy="2057400"/>
          </a:xfrm>
          <a:prstGeom prst="roundRect">
            <a:avLst>
              <a:gd name="adj" fmla="val 3556"/>
            </a:avLst>
          </a:prstGeom>
          <a:solidFill>
            <a:schemeClr val="tx2"/>
          </a:solidFill>
          <a:ln w="12700">
            <a:solidFill>
              <a:schemeClr val="tx2"/>
            </a:solidFill>
            <a:prstDash val="solid"/>
          </a:ln>
        </p:spPr>
      </p:sp>
      <p:sp>
        <p:nvSpPr>
          <p:cNvPr id="15" name="capability 3 badge"/>
          <p:cNvSpPr/>
          <p:nvPr/>
        </p:nvSpPr>
        <p:spPr>
          <a:xfrm>
            <a:off x="6391656" y="1764792"/>
            <a:ext cx="420624" cy="420624"/>
          </a:xfrm>
          <a:prstGeom prst="ellipse">
            <a:avLst/>
          </a:prstGeom>
          <a:solidFill>
            <a:schemeClr val="accent2"/>
          </a:solidFill>
          <a:ln w="12700">
            <a:solidFill>
              <a:schemeClr val="accent2"/>
            </a:solidFill>
            <a:prstDash val="solid"/>
          </a:ln>
        </p:spPr>
      </p:sp>
      <p:sp>
        <p:nvSpPr>
          <p:cNvPr id="16" name="capability 3 badge text"/>
          <p:cNvSpPr txBox="1"/>
          <p:nvPr/>
        </p:nvSpPr>
        <p:spPr>
          <a:xfrm>
            <a:off x="6391656" y="176479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capability 3 title"/>
          <p:cNvSpPr txBox="1"/>
          <p:nvPr/>
        </p:nvSpPr>
        <p:spPr>
          <a:xfrm>
            <a:off x="6391656" y="237744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Alerts</a:t>
            </a:r>
            <a:endParaRPr lang="en-US" sz="1800" dirty="0"/>
          </a:p>
        </p:txBody>
      </p:sp>
      <p:sp>
        <p:nvSpPr>
          <p:cNvPr id="18" name="capability 3 text"/>
          <p:cNvSpPr txBox="1"/>
          <p:nvPr/>
        </p:nvSpPr>
        <p:spPr>
          <a:xfrm>
            <a:off x="6391656" y="2834640"/>
            <a:ext cx="2194560" cy="594360"/>
          </a:xfrm>
          <a:prstGeom prst="rect">
            <a:avLst/>
          </a:prstGeom>
          <a:noFill/>
          <a:ln/>
        </p:spPr>
        <p:txBody>
          <a:bodyPr wrap="square" lIns="0" tIns="0" rIns="0" bIns="0" rtlCol="0" anchor="t"/>
          <a:lstStyle/>
          <a:p>
            <a:pPr indent="0" marL="0">
              <a:buNone/>
            </a:pPr>
            <a:r>
              <a:rPr lang="en-US" sz="1400" dirty="0">
                <a:solidFill>
                  <a:schemeClr val="bg2"/>
                </a:solidFill>
              </a:rPr>
              <a:t>enter, approach, dwell, SOS</a:t>
            </a:r>
            <a:endParaRPr lang="en-US" sz="1400" dirty="0"/>
          </a:p>
        </p:txBody>
      </p:sp>
      <p:sp>
        <p:nvSpPr>
          <p:cNvPr id="19" name="capability 4"/>
          <p:cNvSpPr/>
          <p:nvPr/>
        </p:nvSpPr>
        <p:spPr>
          <a:xfrm>
            <a:off x="8970264" y="1508760"/>
            <a:ext cx="2606040" cy="2057400"/>
          </a:xfrm>
          <a:prstGeom prst="roundRect">
            <a:avLst>
              <a:gd name="adj" fmla="val 3556"/>
            </a:avLst>
          </a:prstGeom>
          <a:solidFill>
            <a:schemeClr val="tx2"/>
          </a:solidFill>
          <a:ln w="12700">
            <a:solidFill>
              <a:schemeClr val="tx2"/>
            </a:solidFill>
            <a:prstDash val="solid"/>
          </a:ln>
        </p:spPr>
      </p:sp>
      <p:sp>
        <p:nvSpPr>
          <p:cNvPr id="20" name="capability 4 badge"/>
          <p:cNvSpPr/>
          <p:nvPr/>
        </p:nvSpPr>
        <p:spPr>
          <a:xfrm>
            <a:off x="9198864" y="1764792"/>
            <a:ext cx="420624" cy="420624"/>
          </a:xfrm>
          <a:prstGeom prst="ellipse">
            <a:avLst/>
          </a:prstGeom>
          <a:solidFill>
            <a:schemeClr val="accent2"/>
          </a:solidFill>
          <a:ln w="12700">
            <a:solidFill>
              <a:schemeClr val="accent2"/>
            </a:solidFill>
            <a:prstDash val="solid"/>
          </a:ln>
        </p:spPr>
      </p:sp>
      <p:sp>
        <p:nvSpPr>
          <p:cNvPr id="21" name="capability 4 badge text"/>
          <p:cNvSpPr txBox="1"/>
          <p:nvPr/>
        </p:nvSpPr>
        <p:spPr>
          <a:xfrm>
            <a:off x="9198864" y="176479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capability 4 title"/>
          <p:cNvSpPr txBox="1"/>
          <p:nvPr/>
        </p:nvSpPr>
        <p:spPr>
          <a:xfrm>
            <a:off x="9198864" y="237744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Incidents</a:t>
            </a:r>
            <a:endParaRPr lang="en-US" sz="1800" dirty="0"/>
          </a:p>
        </p:txBody>
      </p:sp>
      <p:sp>
        <p:nvSpPr>
          <p:cNvPr id="23" name="capability 4 text"/>
          <p:cNvSpPr txBox="1"/>
          <p:nvPr/>
        </p:nvSpPr>
        <p:spPr>
          <a:xfrm>
            <a:off x="9198864" y="2834640"/>
            <a:ext cx="2194560" cy="594360"/>
          </a:xfrm>
          <a:prstGeom prst="rect">
            <a:avLst/>
          </a:prstGeom>
          <a:noFill/>
          <a:ln/>
        </p:spPr>
        <p:txBody>
          <a:bodyPr wrap="square" lIns="0" tIns="0" rIns="0" bIns="0" rtlCol="0" anchor="t"/>
          <a:lstStyle/>
          <a:p>
            <a:pPr indent="0" marL="0">
              <a:buNone/>
            </a:pPr>
            <a:r>
              <a:rPr lang="en-US" sz="1400" dirty="0">
                <a:solidFill>
                  <a:schemeClr val="bg2"/>
                </a:solidFill>
              </a:rPr>
              <a:t>related alerts → one card</a:t>
            </a:r>
            <a:endParaRPr lang="en-US" sz="1400" dirty="0"/>
          </a:p>
        </p:txBody>
      </p:sp>
      <p:sp>
        <p:nvSpPr>
          <p:cNvPr id="24" name="capability 5"/>
          <p:cNvSpPr/>
          <p:nvPr/>
        </p:nvSpPr>
        <p:spPr>
          <a:xfrm>
            <a:off x="548640" y="3840480"/>
            <a:ext cx="2606040" cy="2057400"/>
          </a:xfrm>
          <a:prstGeom prst="roundRect">
            <a:avLst>
              <a:gd name="adj" fmla="val 3556"/>
            </a:avLst>
          </a:prstGeom>
          <a:solidFill>
            <a:schemeClr val="tx2"/>
          </a:solidFill>
          <a:ln w="12700">
            <a:solidFill>
              <a:schemeClr val="tx2"/>
            </a:solidFill>
            <a:prstDash val="solid"/>
          </a:ln>
        </p:spPr>
      </p:sp>
      <p:sp>
        <p:nvSpPr>
          <p:cNvPr id="25" name="capability 5 badge"/>
          <p:cNvSpPr/>
          <p:nvPr/>
        </p:nvSpPr>
        <p:spPr>
          <a:xfrm>
            <a:off x="777240" y="4096512"/>
            <a:ext cx="420624" cy="420624"/>
          </a:xfrm>
          <a:prstGeom prst="ellipse">
            <a:avLst/>
          </a:prstGeom>
          <a:solidFill>
            <a:schemeClr val="accent3"/>
          </a:solidFill>
          <a:ln w="12700">
            <a:solidFill>
              <a:schemeClr val="accent3"/>
            </a:solidFill>
            <a:prstDash val="solid"/>
          </a:ln>
        </p:spPr>
      </p:sp>
      <p:sp>
        <p:nvSpPr>
          <p:cNvPr id="26" name="capability 5 badge text"/>
          <p:cNvSpPr txBox="1"/>
          <p:nvPr/>
        </p:nvSpPr>
        <p:spPr>
          <a:xfrm>
            <a:off x="777240" y="409651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capability 5 title"/>
          <p:cNvSpPr txBox="1"/>
          <p:nvPr/>
        </p:nvSpPr>
        <p:spPr>
          <a:xfrm>
            <a:off x="777240" y="47091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Dispatch</a:t>
            </a:r>
            <a:endParaRPr lang="en-US" sz="1800" dirty="0"/>
          </a:p>
        </p:txBody>
      </p:sp>
      <p:sp>
        <p:nvSpPr>
          <p:cNvPr id="28" name="capability 5 text"/>
          <p:cNvSpPr txBox="1"/>
          <p:nvPr/>
        </p:nvSpPr>
        <p:spPr>
          <a:xfrm>
            <a:off x="777240" y="5166360"/>
            <a:ext cx="2194560" cy="594360"/>
          </a:xfrm>
          <a:prstGeom prst="rect">
            <a:avLst/>
          </a:prstGeom>
          <a:noFill/>
          <a:ln/>
        </p:spPr>
        <p:txBody>
          <a:bodyPr wrap="square" lIns="0" tIns="0" rIns="0" bIns="0" rtlCol="0" anchor="t"/>
          <a:lstStyle/>
          <a:p>
            <a:pPr indent="0" marL="0">
              <a:buNone/>
            </a:pPr>
            <a:r>
              <a:rPr lang="en-US" sz="1400" dirty="0">
                <a:solidFill>
                  <a:schemeClr val="bg2"/>
                </a:solidFill>
              </a:rPr>
              <a:t>nearest responder, A* route</a:t>
            </a:r>
            <a:endParaRPr lang="en-US" sz="1400" dirty="0"/>
          </a:p>
        </p:txBody>
      </p:sp>
      <p:sp>
        <p:nvSpPr>
          <p:cNvPr id="29" name="capability 6"/>
          <p:cNvSpPr/>
          <p:nvPr/>
        </p:nvSpPr>
        <p:spPr>
          <a:xfrm>
            <a:off x="3355848" y="3840480"/>
            <a:ext cx="2606040" cy="2057400"/>
          </a:xfrm>
          <a:prstGeom prst="roundRect">
            <a:avLst>
              <a:gd name="adj" fmla="val 3556"/>
            </a:avLst>
          </a:prstGeom>
          <a:solidFill>
            <a:schemeClr val="tx2"/>
          </a:solidFill>
          <a:ln w="12700">
            <a:solidFill>
              <a:schemeClr val="tx2"/>
            </a:solidFill>
            <a:prstDash val="solid"/>
          </a:ln>
        </p:spPr>
      </p:sp>
      <p:sp>
        <p:nvSpPr>
          <p:cNvPr id="30" name="capability 6 badge"/>
          <p:cNvSpPr/>
          <p:nvPr/>
        </p:nvSpPr>
        <p:spPr>
          <a:xfrm>
            <a:off x="3584448" y="4096512"/>
            <a:ext cx="420624" cy="420624"/>
          </a:xfrm>
          <a:prstGeom prst="ellipse">
            <a:avLst/>
          </a:prstGeom>
          <a:solidFill>
            <a:schemeClr val="accent3"/>
          </a:solidFill>
          <a:ln w="12700">
            <a:solidFill>
              <a:schemeClr val="accent3"/>
            </a:solidFill>
            <a:prstDash val="solid"/>
          </a:ln>
        </p:spPr>
      </p:sp>
      <p:sp>
        <p:nvSpPr>
          <p:cNvPr id="31" name="capability 6 badge text"/>
          <p:cNvSpPr txBox="1"/>
          <p:nvPr/>
        </p:nvSpPr>
        <p:spPr>
          <a:xfrm>
            <a:off x="3584448" y="409651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capability 6 title"/>
          <p:cNvSpPr txBox="1"/>
          <p:nvPr/>
        </p:nvSpPr>
        <p:spPr>
          <a:xfrm>
            <a:off x="3584448" y="47091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Groups</a:t>
            </a:r>
            <a:endParaRPr lang="en-US" sz="1800" dirty="0"/>
          </a:p>
        </p:txBody>
      </p:sp>
      <p:sp>
        <p:nvSpPr>
          <p:cNvPr id="33" name="capability 6 text"/>
          <p:cNvSpPr txBox="1"/>
          <p:nvPr/>
        </p:nvSpPr>
        <p:spPr>
          <a:xfrm>
            <a:off x="3584448" y="5166360"/>
            <a:ext cx="2194560" cy="594360"/>
          </a:xfrm>
          <a:prstGeom prst="rect">
            <a:avLst/>
          </a:prstGeom>
          <a:noFill/>
          <a:ln/>
        </p:spPr>
        <p:txBody>
          <a:bodyPr wrap="square" lIns="0" tIns="0" rIns="0" bIns="0" rtlCol="0" anchor="t"/>
          <a:lstStyle/>
          <a:p>
            <a:pPr indent="0" marL="0">
              <a:buNone/>
            </a:pPr>
            <a:r>
              <a:rPr lang="en-US" sz="1400" dirty="0">
                <a:solidFill>
                  <a:schemeClr val="bg2"/>
                </a:solidFill>
              </a:rPr>
              <a:t>separated members detected</a:t>
            </a:r>
            <a:endParaRPr lang="en-US" sz="1400" dirty="0"/>
          </a:p>
        </p:txBody>
      </p:sp>
      <p:sp>
        <p:nvSpPr>
          <p:cNvPr id="34" name="capability 7"/>
          <p:cNvSpPr/>
          <p:nvPr/>
        </p:nvSpPr>
        <p:spPr>
          <a:xfrm>
            <a:off x="6163056" y="3840480"/>
            <a:ext cx="2606040" cy="2057400"/>
          </a:xfrm>
          <a:prstGeom prst="roundRect">
            <a:avLst>
              <a:gd name="adj" fmla="val 3556"/>
            </a:avLst>
          </a:prstGeom>
          <a:solidFill>
            <a:schemeClr val="tx2"/>
          </a:solidFill>
          <a:ln w="12700">
            <a:solidFill>
              <a:schemeClr val="tx2"/>
            </a:solidFill>
            <a:prstDash val="solid"/>
          </a:ln>
        </p:spPr>
      </p:sp>
      <p:sp>
        <p:nvSpPr>
          <p:cNvPr id="35" name="capability 7 badge"/>
          <p:cNvSpPr/>
          <p:nvPr/>
        </p:nvSpPr>
        <p:spPr>
          <a:xfrm>
            <a:off x="6391656" y="4096512"/>
            <a:ext cx="420624" cy="420624"/>
          </a:xfrm>
          <a:prstGeom prst="ellipse">
            <a:avLst/>
          </a:prstGeom>
          <a:solidFill>
            <a:schemeClr val="accent6"/>
          </a:solidFill>
          <a:ln w="12700">
            <a:solidFill>
              <a:schemeClr val="accent6"/>
            </a:solidFill>
            <a:prstDash val="solid"/>
          </a:ln>
        </p:spPr>
      </p:sp>
      <p:sp>
        <p:nvSpPr>
          <p:cNvPr id="36" name="capability 7 badge text"/>
          <p:cNvSpPr txBox="1"/>
          <p:nvPr/>
        </p:nvSpPr>
        <p:spPr>
          <a:xfrm>
            <a:off x="6391656" y="409651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37" name="capability 7 title"/>
          <p:cNvSpPr txBox="1"/>
          <p:nvPr/>
        </p:nvSpPr>
        <p:spPr>
          <a:xfrm>
            <a:off x="6391656" y="47091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Offline</a:t>
            </a:r>
            <a:endParaRPr lang="en-US" sz="1800" dirty="0"/>
          </a:p>
        </p:txBody>
      </p:sp>
      <p:sp>
        <p:nvSpPr>
          <p:cNvPr id="38" name="capability 7 text"/>
          <p:cNvSpPr txBox="1"/>
          <p:nvPr/>
        </p:nvSpPr>
        <p:spPr>
          <a:xfrm>
            <a:off x="6391656" y="5166360"/>
            <a:ext cx="2194560" cy="594360"/>
          </a:xfrm>
          <a:prstGeom prst="rect">
            <a:avLst/>
          </a:prstGeom>
          <a:noFill/>
          <a:ln/>
        </p:spPr>
        <p:txBody>
          <a:bodyPr wrap="square" lIns="0" tIns="0" rIns="0" bIns="0" rtlCol="0" anchor="t"/>
          <a:lstStyle/>
          <a:p>
            <a:pPr indent="0" marL="0">
              <a:buNone/>
            </a:pPr>
            <a:r>
              <a:rPr lang="en-US" sz="1400" dirty="0">
                <a:solidFill>
                  <a:schemeClr val="bg2"/>
                </a:solidFill>
              </a:rPr>
              <a:t>phone evaluates, syncs later</a:t>
            </a:r>
            <a:endParaRPr lang="en-US" sz="1400" dirty="0"/>
          </a:p>
        </p:txBody>
      </p:sp>
      <p:sp>
        <p:nvSpPr>
          <p:cNvPr id="39" name="capability 8"/>
          <p:cNvSpPr/>
          <p:nvPr/>
        </p:nvSpPr>
        <p:spPr>
          <a:xfrm>
            <a:off x="8970264" y="3840480"/>
            <a:ext cx="2606040" cy="2057400"/>
          </a:xfrm>
          <a:prstGeom prst="roundRect">
            <a:avLst>
              <a:gd name="adj" fmla="val 3556"/>
            </a:avLst>
          </a:prstGeom>
          <a:solidFill>
            <a:schemeClr val="tx2"/>
          </a:solidFill>
          <a:ln w="12700">
            <a:solidFill>
              <a:schemeClr val="tx2"/>
            </a:solidFill>
            <a:prstDash val="solid"/>
          </a:ln>
        </p:spPr>
      </p:sp>
      <p:sp>
        <p:nvSpPr>
          <p:cNvPr id="40" name="capability 8 badge"/>
          <p:cNvSpPr/>
          <p:nvPr/>
        </p:nvSpPr>
        <p:spPr>
          <a:xfrm>
            <a:off x="9198864" y="4096512"/>
            <a:ext cx="420624" cy="420624"/>
          </a:xfrm>
          <a:prstGeom prst="ellipse">
            <a:avLst/>
          </a:prstGeom>
          <a:solidFill>
            <a:schemeClr val="accent6"/>
          </a:solidFill>
          <a:ln w="12700">
            <a:solidFill>
              <a:schemeClr val="accent6"/>
            </a:solidFill>
            <a:prstDash val="solid"/>
          </a:ln>
        </p:spPr>
      </p:sp>
      <p:sp>
        <p:nvSpPr>
          <p:cNvPr id="41" name="capability 8 badge text"/>
          <p:cNvSpPr txBox="1"/>
          <p:nvPr/>
        </p:nvSpPr>
        <p:spPr>
          <a:xfrm>
            <a:off x="9198864" y="409651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42" name="capability 8 title"/>
          <p:cNvSpPr txBox="1"/>
          <p:nvPr/>
        </p:nvSpPr>
        <p:spPr>
          <a:xfrm>
            <a:off x="9198864" y="47091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History</a:t>
            </a:r>
            <a:endParaRPr lang="en-US" sz="1800" dirty="0"/>
          </a:p>
        </p:txBody>
      </p:sp>
      <p:sp>
        <p:nvSpPr>
          <p:cNvPr id="43" name="capability 8 text"/>
          <p:cNvSpPr txBox="1"/>
          <p:nvPr/>
        </p:nvSpPr>
        <p:spPr>
          <a:xfrm>
            <a:off x="9198864" y="5166360"/>
            <a:ext cx="2194560" cy="594360"/>
          </a:xfrm>
          <a:prstGeom prst="rect">
            <a:avLst/>
          </a:prstGeom>
          <a:noFill/>
          <a:ln/>
        </p:spPr>
        <p:txBody>
          <a:bodyPr wrap="square" lIns="0" tIns="0" rIns="0" bIns="0" rtlCol="0" anchor="t"/>
          <a:lstStyle/>
          <a:p>
            <a:pPr indent="0" marL="0">
              <a:buNone/>
            </a:pPr>
            <a:r>
              <a:rPr lang="en-US" sz="1400" dirty="0">
                <a:solidFill>
                  <a:schemeClr val="bg2"/>
                </a:solidFill>
              </a:rPr>
              <a:t>past state + Merkle evidence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Three layers, one process, no dependencies</a:t>
            </a:r>
            <a:endParaRPr lang="en-US" sz="3600" dirty="0"/>
          </a:p>
        </p:txBody>
      </p:sp>
      <p:pic>
        <p:nvPicPr>
          <p:cNvPr id="4" name="architecture diagram" descr="Architecture: browser, server, engine">    </p:cNvPr>
          <p:cNvPicPr>
            <a:picLocks noChangeAspect="1"/>
          </p:cNvPicPr>
          <p:nvPr/>
        </p:nvPicPr>
        <p:blipFill>
          <a:blip r:embed="rId1"/>
          <a:stretch>
            <a:fillRect/>
          </a:stretch>
        </p:blipFill>
        <p:spPr>
          <a:xfrm>
            <a:off x="548640" y="1280160"/>
            <a:ext cx="6766560" cy="5078481"/>
          </a:xfrm>
          <a:prstGeom prst="rect">
            <a:avLst/>
          </a:prstGeom>
        </p:spPr>
      </p:pic>
      <p:sp>
        <p:nvSpPr>
          <p:cNvPr id="5" name="layer notes"/>
          <p:cNvSpPr txBox="1"/>
          <p:nvPr/>
        </p:nvSpPr>
        <p:spPr>
          <a:xfrm>
            <a:off x="7680960" y="1371600"/>
            <a:ext cx="3931920" cy="4572000"/>
          </a:xfrm>
          <a:prstGeom prst="rect">
            <a:avLst/>
          </a:prstGeom>
          <a:noFill/>
          <a:ln/>
        </p:spPr>
        <p:txBody>
          <a:bodyPr wrap="square" lIns="0" tIns="0" rIns="0" bIns="0" rtlCol="0" anchor="t"/>
          <a:lstStyle/>
          <a:p>
            <a:pPr indent="0" marL="0">
              <a:buNone/>
            </a:pPr>
            <a:r>
              <a:rPr lang="en-US" sz="1600" b="1" dirty="0">
                <a:solidFill>
                  <a:schemeClr val="accent2"/>
                </a:solidFill>
              </a:rPr>
              <a:t>Engine</a:t>
            </a:r>
            <a:endParaRPr lang="en-US" sz="1600" dirty="0"/>
          </a:p>
          <a:p>
            <a:pPr indent="0" marL="0">
              <a:buNone/>
            </a:pPr>
            <a:r>
              <a:rPr lang="en-US" sz="1600" dirty="0">
                <a:solidFill>
                  <a:schemeClr val="bg1"/>
                </a:solidFill>
              </a:rPr>
              <a:t>indexes, geometry, the 9-step evaluator</a:t>
            </a:r>
            <a:endParaRPr lang="en-US" sz="1600" dirty="0"/>
          </a:p>
          <a:p>
            <a:pPr indent="0" marL="0">
              <a:buNone/>
            </a:pPr>
            <a:r>
              <a:rPr lang="en-US" sz="1600" dirty="0">
                <a:solidFill>
                  <a:schemeClr val="bg1"/>
                </a:solidFill>
              </a:rPr>
              <a:t> </a:t>
            </a:r>
            <a:endParaRPr lang="en-US" sz="1600" dirty="0"/>
          </a:p>
          <a:p>
            <a:pPr indent="0" marL="0">
              <a:buNone/>
            </a:pPr>
            <a:r>
              <a:rPr lang="en-US" sz="1600" b="1" dirty="0">
                <a:solidFill>
                  <a:schemeClr val="accent1"/>
                </a:solidFill>
              </a:rPr>
              <a:t>Platform</a:t>
            </a:r>
            <a:endParaRPr lang="en-US" sz="1600" dirty="0"/>
          </a:p>
          <a:p>
            <a:pPr indent="0" marL="0">
              <a:buNone/>
            </a:pPr>
            <a:r>
              <a:rPr lang="en-US" sz="1600" dirty="0">
                <a:solidFill>
                  <a:schemeClr val="bg1"/>
                </a:solidFill>
              </a:rPr>
              <a:t>users, consent, alerts, incidents, groups, responders, history, offline sync</a:t>
            </a:r>
            <a:endParaRPr lang="en-US" sz="1600" dirty="0"/>
          </a:p>
          <a:p>
            <a:pPr indent="0" marL="0">
              <a:buNone/>
            </a:pPr>
            <a:r>
              <a:rPr lang="en-US" sz="1600" dirty="0">
                <a:solidFill>
                  <a:schemeClr val="bg1"/>
                </a:solidFill>
              </a:rPr>
              <a:t> </a:t>
            </a:r>
            <a:endParaRPr lang="en-US" sz="1600" dirty="0"/>
          </a:p>
          <a:p>
            <a:pPr indent="0" marL="0">
              <a:buNone/>
            </a:pPr>
            <a:r>
              <a:rPr lang="en-US" sz="1600" b="1" dirty="0">
                <a:solidFill>
                  <a:schemeClr val="accent5"/>
                </a:solidFill>
              </a:rPr>
              <a:t>Server + console</a:t>
            </a:r>
            <a:endParaRPr lang="en-US" sz="1600" dirty="0"/>
          </a:p>
          <a:p>
            <a:pPr indent="0" marL="0">
              <a:buNone/>
            </a:pPr>
            <a:r>
              <a:rPr lang="en-US" sz="1600" dirty="0">
                <a:solidFill>
                  <a:schemeClr val="bg1"/>
                </a:solidFill>
              </a:rPr>
              <a:t>one thread: every update in one total order, no locks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Five core structures answer the geofencing questions</a:t>
            </a:r>
            <a:endParaRPr lang="en-US" sz="3600" dirty="0"/>
          </a:p>
        </p:txBody>
      </p:sp>
      <p:graphicFrame>
        <p:nvGraphicFramePr>
          <p:cNvPr id="6" name="core structure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gridCol w="5394960"/>
                <a:gridCol w="2743200"/>
              </a:tblGrid>
              <a:tr h="566928">
                <a:tc>
                  <a:txBody>
                    <a:bodyPr/>
                    <a:lstStyle/>
                    <a:p>
                      <a:pPr indent="0" marL="0">
                        <a:buNone/>
                      </a:pPr>
                      <a:r>
                        <a:rPr lang="en-US" sz="1300" b="1" dirty="0">
                          <a:solidFill>
                            <a:schemeClr val="bg2"/>
                          </a:solidFill>
                        </a:rPr>
                        <a:t>Structure</a:t>
                      </a:r>
                      <a:endParaRPr lang="en-US" sz="13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Answers</a:t>
                      </a:r>
                      <a:endParaRPr lang="en-US" sz="13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Bound</a:t>
                      </a:r>
                      <a:endParaRPr lang="en-US" sz="13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2"/>
                    </a:solidFill>
                  </a:tcPr>
                </a:tc>
              </a:tr>
              <a:tr h="566928">
                <a:tc>
                  <a:txBody>
                    <a:bodyPr/>
                    <a:lstStyle/>
                    <a:p>
                      <a:pPr indent="0" marL="0">
                        <a:buNone/>
                      </a:pPr>
                      <a:r>
                        <a:rPr lang="en-US" sz="1600" b="1" dirty="0">
                          <a:solidFill>
                            <a:schemeClr val="accent1"/>
                          </a:solidFill>
                        </a:rPr>
                        <a:t>Brute force</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the oracle: which zone boxes meet this box?</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Θ(n)</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566928">
                <a:tc>
                  <a:txBody>
                    <a:bodyPr/>
                    <a:lstStyle/>
                    <a:p>
                      <a:pPr indent="0" marL="0">
                        <a:buNone/>
                      </a:pPr>
                      <a:r>
                        <a:rPr lang="en-US" sz="1600" b="1" dirty="0">
                          <a:solidFill>
                            <a:schemeClr val="accent1"/>
                          </a:solidFill>
                        </a:rPr>
                        <a:t>Quadtree</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same, by splitting space into quadrants</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O(log n + k) expected</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566928">
                <a:tc>
                  <a:txBody>
                    <a:bodyPr/>
                    <a:lstStyle/>
                    <a:p>
                      <a:pPr indent="0" marL="0">
                        <a:buNone/>
                      </a:pPr>
                      <a:r>
                        <a:rPr lang="en-US" sz="1600" b="1" dirty="0">
                          <a:solidFill>
                            <a:schemeClr val="accent1"/>
                          </a:solidFill>
                        </a:rPr>
                        <a:t>R-tree + STR packing</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same, by grouping items into envelopes</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O(log n + k) expected</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566928">
                <a:tc>
                  <a:txBody>
                    <a:bodyPr/>
                    <a:lstStyle/>
                    <a:p>
                      <a:pPr indent="0" marL="0">
                        <a:buNone/>
                      </a:pPr>
                      <a:r>
                        <a:rPr lang="en-US" sz="1600" b="1" dirty="0">
                          <a:solidFill>
                            <a:schemeClr val="accent1"/>
                          </a:solidFill>
                        </a:rPr>
                        <a:t>AVL interval tree</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which rules were in force at time t?</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O(log n) per update</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566928">
                <a:tc>
                  <a:txBody>
                    <a:bodyPr/>
                    <a:lstStyle/>
                    <a:p>
                      <a:pPr indent="0" marL="0">
                        <a:buNone/>
                      </a:pPr>
                      <a:r>
                        <a:rPr lang="en-US" sz="1600" b="1" dirty="0">
                          <a:solidFill>
                            <a:schemeClr val="accent1"/>
                          </a:solidFill>
                        </a:rPr>
                        <a:t>Persistent quadtree</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what did the zone set look like at 14:32?</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600" dirty="0">
                          <a:solidFill>
                            <a:schemeClr val="bg1"/>
                          </a:solidFill>
                        </a:rPr>
                        <a:t>O(depth) nodes per change</a:t>
                      </a:r>
                      <a:endParaRPr lang="en-US" sz="16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bl>
          </a:graphicData>
        </a:graphic>
      </p:graphicFrame>
      <p:sp>
        <p:nvSpPr>
          <p:cNvPr id="5" name="core footnote"/>
          <p:cNvSpPr txBox="1"/>
          <p:nvPr/>
        </p:nvSpPr>
        <p:spPr>
          <a:xfrm>
            <a:off x="548640" y="5120640"/>
            <a:ext cx="11064240" cy="365760"/>
          </a:xfrm>
          <a:prstGeom prst="rect">
            <a:avLst/>
          </a:prstGeom>
          <a:noFill/>
          <a:ln/>
        </p:spPr>
        <p:txBody>
          <a:bodyPr wrap="square" lIns="0" tIns="0" rIns="0" bIns="0" rtlCol="0" anchor="ctr"/>
          <a:lstStyle/>
          <a:p>
            <a:pPr indent="0" marL="0">
              <a:buNone/>
            </a:pPr>
            <a:r>
              <a:rPr lang="en-US" sz="1300" dirty="0">
                <a:solidFill>
                  <a:schemeClr val="bg2"/>
                </a:solidFill>
              </a:rPr>
              <a:t>k = number of results. No spatial library, no std::map / set / unordered_map / priority_queue.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Every supporting structure has a job in the product</a:t>
            </a:r>
            <a:endParaRPr lang="en-US" sz="3600" dirty="0"/>
          </a:p>
        </p:txBody>
      </p:sp>
      <p:sp>
        <p:nvSpPr>
          <p:cNvPr id="4" name="Binary heap"/>
          <p:cNvSpPr/>
          <p:nvPr/>
        </p:nvSpPr>
        <p:spPr>
          <a:xfrm>
            <a:off x="548640" y="1417320"/>
            <a:ext cx="5440680" cy="1024128"/>
          </a:xfrm>
          <a:prstGeom prst="roundRect">
            <a:avLst>
              <a:gd name="adj" fmla="val 7143"/>
            </a:avLst>
          </a:prstGeom>
          <a:solidFill>
            <a:schemeClr val="tx2"/>
          </a:solidFill>
          <a:ln w="12700">
            <a:solidFill>
              <a:schemeClr val="tx2"/>
            </a:solidFill>
            <a:prstDash val="solid"/>
          </a:ln>
        </p:spPr>
      </p:sp>
      <p:sp>
        <p:nvSpPr>
          <p:cNvPr id="5" name="Binary heap marker"/>
          <p:cNvSpPr/>
          <p:nvPr/>
        </p:nvSpPr>
        <p:spPr>
          <a:xfrm>
            <a:off x="777240" y="1746504"/>
            <a:ext cx="365760" cy="365760"/>
          </a:xfrm>
          <a:prstGeom prst="ellipse">
            <a:avLst/>
          </a:prstGeom>
          <a:solidFill>
            <a:schemeClr val="accent1"/>
          </a:solidFill>
          <a:ln w="12700">
            <a:solidFill>
              <a:schemeClr val="accent1"/>
            </a:solidFill>
            <a:prstDash val="solid"/>
          </a:ln>
        </p:spPr>
      </p:sp>
      <p:sp>
        <p:nvSpPr>
          <p:cNvPr id="6" name="Binary heap title"/>
          <p:cNvSpPr txBox="1"/>
          <p:nvPr/>
        </p:nvSpPr>
        <p:spPr>
          <a:xfrm>
            <a:off x="1325880" y="1545336"/>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Binary heap</a:t>
            </a:r>
            <a:endParaRPr lang="en-US" sz="1700" dirty="0"/>
          </a:p>
        </p:txBody>
      </p:sp>
      <p:sp>
        <p:nvSpPr>
          <p:cNvPr id="7" name="Binary heap text"/>
          <p:cNvSpPr txBox="1"/>
          <p:nvPr/>
        </p:nvSpPr>
        <p:spPr>
          <a:xfrm>
            <a:off x="1325880" y="1947672"/>
            <a:ext cx="4480560" cy="365760"/>
          </a:xfrm>
          <a:prstGeom prst="rect">
            <a:avLst/>
          </a:prstGeom>
          <a:noFill/>
          <a:ln/>
        </p:spPr>
        <p:txBody>
          <a:bodyPr wrap="square" lIns="0" tIns="0" rIns="0" bIns="0" rtlCol="0" anchor="ctr"/>
          <a:lstStyle/>
          <a:p>
            <a:pPr indent="0" marL="0">
              <a:buNone/>
            </a:pPr>
            <a:r>
              <a:rPr lang="en-US" sz="1400" dirty="0">
                <a:solidFill>
                  <a:schemeClr val="bg2"/>
                </a:solidFill>
              </a:rPr>
              <a:t>Dijkstra / A* frontier, alert triage</a:t>
            </a:r>
            <a:endParaRPr lang="en-US" sz="1400" dirty="0"/>
          </a:p>
        </p:txBody>
      </p:sp>
      <p:sp>
        <p:nvSpPr>
          <p:cNvPr id="8" name="Union-find + rollback"/>
          <p:cNvSpPr/>
          <p:nvPr/>
        </p:nvSpPr>
        <p:spPr>
          <a:xfrm>
            <a:off x="6172200" y="1417320"/>
            <a:ext cx="5440680" cy="1024128"/>
          </a:xfrm>
          <a:prstGeom prst="roundRect">
            <a:avLst>
              <a:gd name="adj" fmla="val 7143"/>
            </a:avLst>
          </a:prstGeom>
          <a:solidFill>
            <a:schemeClr val="tx2"/>
          </a:solidFill>
          <a:ln w="12700">
            <a:solidFill>
              <a:schemeClr val="tx2"/>
            </a:solidFill>
            <a:prstDash val="solid"/>
          </a:ln>
        </p:spPr>
      </p:sp>
      <p:sp>
        <p:nvSpPr>
          <p:cNvPr id="9" name="Union-find + rollback marker"/>
          <p:cNvSpPr/>
          <p:nvPr/>
        </p:nvSpPr>
        <p:spPr>
          <a:xfrm>
            <a:off x="6400800" y="1746504"/>
            <a:ext cx="365760" cy="365760"/>
          </a:xfrm>
          <a:prstGeom prst="ellipse">
            <a:avLst/>
          </a:prstGeom>
          <a:solidFill>
            <a:schemeClr val="accent1"/>
          </a:solidFill>
          <a:ln w="12700">
            <a:solidFill>
              <a:schemeClr val="accent1"/>
            </a:solidFill>
            <a:prstDash val="solid"/>
          </a:ln>
        </p:spPr>
      </p:sp>
      <p:sp>
        <p:nvSpPr>
          <p:cNvPr id="10" name="Union-find + rollback title"/>
          <p:cNvSpPr txBox="1"/>
          <p:nvPr/>
        </p:nvSpPr>
        <p:spPr>
          <a:xfrm>
            <a:off x="6949440" y="1545336"/>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Union-find + rollback</a:t>
            </a:r>
            <a:endParaRPr lang="en-US" sz="1700" dirty="0"/>
          </a:p>
        </p:txBody>
      </p:sp>
      <p:sp>
        <p:nvSpPr>
          <p:cNvPr id="11" name="Union-find + rollback text"/>
          <p:cNvSpPr txBox="1"/>
          <p:nvPr/>
        </p:nvSpPr>
        <p:spPr>
          <a:xfrm>
            <a:off x="6949440" y="1947672"/>
            <a:ext cx="4480560" cy="365760"/>
          </a:xfrm>
          <a:prstGeom prst="rect">
            <a:avLst/>
          </a:prstGeom>
          <a:noFill/>
          <a:ln/>
        </p:spPr>
        <p:txBody>
          <a:bodyPr wrap="square" lIns="0" tIns="0" rIns="0" bIns="0" rtlCol="0" anchor="ctr"/>
          <a:lstStyle/>
          <a:p>
            <a:pPr indent="0" marL="0">
              <a:buNone/>
            </a:pPr>
            <a:r>
              <a:rPr lang="en-US" sz="1400" dirty="0">
                <a:solidFill>
                  <a:schemeClr val="bg2"/>
                </a:solidFill>
              </a:rPr>
              <a:t>group split, alert → incident</a:t>
            </a:r>
            <a:endParaRPr lang="en-US" sz="1400" dirty="0"/>
          </a:p>
        </p:txBody>
      </p:sp>
      <p:sp>
        <p:nvSpPr>
          <p:cNvPr id="12" name="Hash table (probing)"/>
          <p:cNvSpPr/>
          <p:nvPr/>
        </p:nvSpPr>
        <p:spPr>
          <a:xfrm>
            <a:off x="548640" y="2624328"/>
            <a:ext cx="5440680" cy="1024128"/>
          </a:xfrm>
          <a:prstGeom prst="roundRect">
            <a:avLst>
              <a:gd name="adj" fmla="val 7143"/>
            </a:avLst>
          </a:prstGeom>
          <a:solidFill>
            <a:schemeClr val="tx2"/>
          </a:solidFill>
          <a:ln w="12700">
            <a:solidFill>
              <a:schemeClr val="tx2"/>
            </a:solidFill>
            <a:prstDash val="solid"/>
          </a:ln>
        </p:spPr>
      </p:sp>
      <p:sp>
        <p:nvSpPr>
          <p:cNvPr id="13" name="Hash table (probing) marker"/>
          <p:cNvSpPr/>
          <p:nvPr/>
        </p:nvSpPr>
        <p:spPr>
          <a:xfrm>
            <a:off x="777240" y="2953512"/>
            <a:ext cx="365760" cy="365760"/>
          </a:xfrm>
          <a:prstGeom prst="ellipse">
            <a:avLst/>
          </a:prstGeom>
          <a:solidFill>
            <a:schemeClr val="accent2"/>
          </a:solidFill>
          <a:ln w="12700">
            <a:solidFill>
              <a:schemeClr val="accent2"/>
            </a:solidFill>
            <a:prstDash val="solid"/>
          </a:ln>
        </p:spPr>
      </p:sp>
      <p:sp>
        <p:nvSpPr>
          <p:cNvPr id="14" name="Hash table (probing) title"/>
          <p:cNvSpPr txBox="1"/>
          <p:nvPr/>
        </p:nvSpPr>
        <p:spPr>
          <a:xfrm>
            <a:off x="1325880" y="2752344"/>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Hash table (probing)</a:t>
            </a:r>
            <a:endParaRPr lang="en-US" sz="1700" dirty="0"/>
          </a:p>
        </p:txBody>
      </p:sp>
      <p:sp>
        <p:nvSpPr>
          <p:cNvPr id="15" name="Hash table (probing) text"/>
          <p:cNvSpPr txBox="1"/>
          <p:nvPr/>
        </p:nvSpPr>
        <p:spPr>
          <a:xfrm>
            <a:off x="1325880" y="3154680"/>
            <a:ext cx="4480560" cy="365760"/>
          </a:xfrm>
          <a:prstGeom prst="rect">
            <a:avLst/>
          </a:prstGeom>
          <a:noFill/>
          <a:ln/>
        </p:spPr>
        <p:txBody>
          <a:bodyPr wrap="square" lIns="0" tIns="0" rIns="0" bIns="0" rtlCol="0" anchor="ctr"/>
          <a:lstStyle/>
          <a:p>
            <a:pPr indent="0" marL="0">
              <a:buNone/>
            </a:pPr>
            <a:r>
              <a:rPr lang="en-US" sz="1400" dirty="0">
                <a:solidFill>
                  <a:schemeClr val="bg2"/>
                </a:solidFill>
              </a:rPr>
              <a:t>users, sessions, sync de-duplication</a:t>
            </a:r>
            <a:endParaRPr lang="en-US" sz="1400" dirty="0"/>
          </a:p>
        </p:txBody>
      </p:sp>
      <p:sp>
        <p:nvSpPr>
          <p:cNvPr id="16" name="Timer wheel"/>
          <p:cNvSpPr/>
          <p:nvPr/>
        </p:nvSpPr>
        <p:spPr>
          <a:xfrm>
            <a:off x="6172200" y="2624328"/>
            <a:ext cx="5440680" cy="1024128"/>
          </a:xfrm>
          <a:prstGeom prst="roundRect">
            <a:avLst>
              <a:gd name="adj" fmla="val 7143"/>
            </a:avLst>
          </a:prstGeom>
          <a:solidFill>
            <a:schemeClr val="tx2"/>
          </a:solidFill>
          <a:ln w="12700">
            <a:solidFill>
              <a:schemeClr val="tx2"/>
            </a:solidFill>
            <a:prstDash val="solid"/>
          </a:ln>
        </p:spPr>
      </p:sp>
      <p:sp>
        <p:nvSpPr>
          <p:cNvPr id="17" name="Timer wheel marker"/>
          <p:cNvSpPr/>
          <p:nvPr/>
        </p:nvSpPr>
        <p:spPr>
          <a:xfrm>
            <a:off x="6400800" y="2953512"/>
            <a:ext cx="365760" cy="365760"/>
          </a:xfrm>
          <a:prstGeom prst="ellipse">
            <a:avLst/>
          </a:prstGeom>
          <a:solidFill>
            <a:schemeClr val="accent2"/>
          </a:solidFill>
          <a:ln w="12700">
            <a:solidFill>
              <a:schemeClr val="accent2"/>
            </a:solidFill>
            <a:prstDash val="solid"/>
          </a:ln>
        </p:spPr>
      </p:sp>
      <p:sp>
        <p:nvSpPr>
          <p:cNvPr id="18" name="Timer wheel title"/>
          <p:cNvSpPr txBox="1"/>
          <p:nvPr/>
        </p:nvSpPr>
        <p:spPr>
          <a:xfrm>
            <a:off x="6949440" y="2752344"/>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Timer wheel</a:t>
            </a:r>
            <a:endParaRPr lang="en-US" sz="1700" dirty="0"/>
          </a:p>
        </p:txBody>
      </p:sp>
      <p:sp>
        <p:nvSpPr>
          <p:cNvPr id="19" name="Timer wheel text"/>
          <p:cNvSpPr txBox="1"/>
          <p:nvPr/>
        </p:nvSpPr>
        <p:spPr>
          <a:xfrm>
            <a:off x="6949440" y="3154680"/>
            <a:ext cx="4480560" cy="365760"/>
          </a:xfrm>
          <a:prstGeom prst="rect">
            <a:avLst/>
          </a:prstGeom>
          <a:noFill/>
          <a:ln/>
        </p:spPr>
        <p:txBody>
          <a:bodyPr wrap="square" lIns="0" tIns="0" rIns="0" bIns="0" rtlCol="0" anchor="ctr"/>
          <a:lstStyle/>
          <a:p>
            <a:pPr indent="0" marL="0">
              <a:buNone/>
            </a:pPr>
            <a:r>
              <a:rPr lang="en-US" sz="1400" dirty="0">
                <a:solidFill>
                  <a:schemeClr val="bg2"/>
                </a:solidFill>
              </a:rPr>
              <a:t>unacknowledged alerts escalate</a:t>
            </a:r>
            <a:endParaRPr lang="en-US" sz="1400" dirty="0"/>
          </a:p>
        </p:txBody>
      </p:sp>
      <p:sp>
        <p:nvSpPr>
          <p:cNvPr id="20" name="Ring buffer"/>
          <p:cNvSpPr/>
          <p:nvPr/>
        </p:nvSpPr>
        <p:spPr>
          <a:xfrm>
            <a:off x="548640" y="3831336"/>
            <a:ext cx="5440680" cy="1024128"/>
          </a:xfrm>
          <a:prstGeom prst="roundRect">
            <a:avLst>
              <a:gd name="adj" fmla="val 7143"/>
            </a:avLst>
          </a:prstGeom>
          <a:solidFill>
            <a:schemeClr val="tx2"/>
          </a:solidFill>
          <a:ln w="12700">
            <a:solidFill>
              <a:schemeClr val="tx2"/>
            </a:solidFill>
            <a:prstDash val="solid"/>
          </a:ln>
        </p:spPr>
      </p:sp>
      <p:sp>
        <p:nvSpPr>
          <p:cNvPr id="21" name="Ring buffer marker"/>
          <p:cNvSpPr/>
          <p:nvPr/>
        </p:nvSpPr>
        <p:spPr>
          <a:xfrm>
            <a:off x="777240" y="4160520"/>
            <a:ext cx="365760" cy="365760"/>
          </a:xfrm>
          <a:prstGeom prst="ellipse">
            <a:avLst/>
          </a:prstGeom>
          <a:solidFill>
            <a:schemeClr val="accent3"/>
          </a:solidFill>
          <a:ln w="12700">
            <a:solidFill>
              <a:schemeClr val="accent3"/>
            </a:solidFill>
            <a:prstDash val="solid"/>
          </a:ln>
        </p:spPr>
      </p:sp>
      <p:sp>
        <p:nvSpPr>
          <p:cNvPr id="22" name="Ring buffer title"/>
          <p:cNvSpPr txBox="1"/>
          <p:nvPr/>
        </p:nvSpPr>
        <p:spPr>
          <a:xfrm>
            <a:off x="1325880" y="3959352"/>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Ring buffer</a:t>
            </a:r>
            <a:endParaRPr lang="en-US" sz="1700" dirty="0"/>
          </a:p>
        </p:txBody>
      </p:sp>
      <p:sp>
        <p:nvSpPr>
          <p:cNvPr id="23" name="Ring buffer text"/>
          <p:cNvSpPr txBox="1"/>
          <p:nvPr/>
        </p:nvSpPr>
        <p:spPr>
          <a:xfrm>
            <a:off x="1325880" y="4361688"/>
            <a:ext cx="4480560" cy="365760"/>
          </a:xfrm>
          <a:prstGeom prst="rect">
            <a:avLst/>
          </a:prstGeom>
          <a:noFill/>
          <a:ln/>
        </p:spPr>
        <p:txBody>
          <a:bodyPr wrap="square" lIns="0" tIns="0" rIns="0" bIns="0" rtlCol="0" anchor="ctr"/>
          <a:lstStyle/>
          <a:p>
            <a:pPr indent="0" marL="0">
              <a:buNone/>
            </a:pPr>
            <a:r>
              <a:rPr lang="en-US" sz="1400" dirty="0">
                <a:solidFill>
                  <a:schemeClr val="bg2"/>
                </a:solidFill>
              </a:rPr>
              <a:t>last 64 fixes: speed, stillness</a:t>
            </a:r>
            <a:endParaRPr lang="en-US" sz="1400" dirty="0"/>
          </a:p>
        </p:txBody>
      </p:sp>
      <p:sp>
        <p:nvSpPr>
          <p:cNvPr id="24" name="k-d tree"/>
          <p:cNvSpPr/>
          <p:nvPr/>
        </p:nvSpPr>
        <p:spPr>
          <a:xfrm>
            <a:off x="6172200" y="3831336"/>
            <a:ext cx="5440680" cy="1024128"/>
          </a:xfrm>
          <a:prstGeom prst="roundRect">
            <a:avLst>
              <a:gd name="adj" fmla="val 7143"/>
            </a:avLst>
          </a:prstGeom>
          <a:solidFill>
            <a:schemeClr val="tx2"/>
          </a:solidFill>
          <a:ln w="12700">
            <a:solidFill>
              <a:schemeClr val="tx2"/>
            </a:solidFill>
            <a:prstDash val="solid"/>
          </a:ln>
        </p:spPr>
      </p:sp>
      <p:sp>
        <p:nvSpPr>
          <p:cNvPr id="25" name="k-d tree marker"/>
          <p:cNvSpPr/>
          <p:nvPr/>
        </p:nvSpPr>
        <p:spPr>
          <a:xfrm>
            <a:off x="6400800" y="4160520"/>
            <a:ext cx="365760" cy="365760"/>
          </a:xfrm>
          <a:prstGeom prst="ellipse">
            <a:avLst/>
          </a:prstGeom>
          <a:solidFill>
            <a:schemeClr val="accent3"/>
          </a:solidFill>
          <a:ln w="12700">
            <a:solidFill>
              <a:schemeClr val="accent3"/>
            </a:solidFill>
            <a:prstDash val="solid"/>
          </a:ln>
        </p:spPr>
      </p:sp>
      <p:sp>
        <p:nvSpPr>
          <p:cNvPr id="26" name="k-d tree title"/>
          <p:cNvSpPr txBox="1"/>
          <p:nvPr/>
        </p:nvSpPr>
        <p:spPr>
          <a:xfrm>
            <a:off x="6949440" y="3959352"/>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k-d tree</a:t>
            </a:r>
            <a:endParaRPr lang="en-US" sz="1700" dirty="0"/>
          </a:p>
        </p:txBody>
      </p:sp>
      <p:sp>
        <p:nvSpPr>
          <p:cNvPr id="27" name="k-d tree text"/>
          <p:cNvSpPr txBox="1"/>
          <p:nvPr/>
        </p:nvSpPr>
        <p:spPr>
          <a:xfrm>
            <a:off x="6949440" y="4361688"/>
            <a:ext cx="4480560" cy="365760"/>
          </a:xfrm>
          <a:prstGeom prst="rect">
            <a:avLst/>
          </a:prstGeom>
          <a:noFill/>
          <a:ln/>
        </p:spPr>
        <p:txBody>
          <a:bodyPr wrap="square" lIns="0" tIns="0" rIns="0" bIns="0" rtlCol="0" anchor="ctr"/>
          <a:lstStyle/>
          <a:p>
            <a:pPr indent="0" marL="0">
              <a:buNone/>
            </a:pPr>
            <a:r>
              <a:rPr lang="en-US" sz="1400" dirty="0">
                <a:solidFill>
                  <a:schemeClr val="bg2"/>
                </a:solidFill>
              </a:rPr>
              <a:t>snap to 144,090 road junctions</a:t>
            </a:r>
            <a:endParaRPr lang="en-US" sz="1400" dirty="0"/>
          </a:p>
        </p:txBody>
      </p:sp>
      <p:sp>
        <p:nvSpPr>
          <p:cNvPr id="28" name="Adjacency list graph"/>
          <p:cNvSpPr/>
          <p:nvPr/>
        </p:nvSpPr>
        <p:spPr>
          <a:xfrm>
            <a:off x="548640" y="5038344"/>
            <a:ext cx="5440680" cy="1024128"/>
          </a:xfrm>
          <a:prstGeom prst="roundRect">
            <a:avLst>
              <a:gd name="adj" fmla="val 7143"/>
            </a:avLst>
          </a:prstGeom>
          <a:solidFill>
            <a:schemeClr val="tx2"/>
          </a:solidFill>
          <a:ln w="12700">
            <a:solidFill>
              <a:schemeClr val="tx2"/>
            </a:solidFill>
            <a:prstDash val="solid"/>
          </a:ln>
        </p:spPr>
      </p:sp>
      <p:sp>
        <p:nvSpPr>
          <p:cNvPr id="29" name="Adjacency list graph marker"/>
          <p:cNvSpPr/>
          <p:nvPr/>
        </p:nvSpPr>
        <p:spPr>
          <a:xfrm>
            <a:off x="777240" y="5367528"/>
            <a:ext cx="365760" cy="365760"/>
          </a:xfrm>
          <a:prstGeom prst="ellipse">
            <a:avLst/>
          </a:prstGeom>
          <a:solidFill>
            <a:schemeClr val="accent5"/>
          </a:solidFill>
          <a:ln w="12700">
            <a:solidFill>
              <a:schemeClr val="accent5"/>
            </a:solidFill>
            <a:prstDash val="solid"/>
          </a:ln>
        </p:spPr>
      </p:sp>
      <p:sp>
        <p:nvSpPr>
          <p:cNvPr id="30" name="Adjacency list graph title"/>
          <p:cNvSpPr txBox="1"/>
          <p:nvPr/>
        </p:nvSpPr>
        <p:spPr>
          <a:xfrm>
            <a:off x="1325880" y="5166360"/>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Adjacency list graph</a:t>
            </a:r>
            <a:endParaRPr lang="en-US" sz="1700" dirty="0"/>
          </a:p>
        </p:txBody>
      </p:sp>
      <p:sp>
        <p:nvSpPr>
          <p:cNvPr id="31" name="Adjacency list graph text"/>
          <p:cNvSpPr txBox="1"/>
          <p:nvPr/>
        </p:nvSpPr>
        <p:spPr>
          <a:xfrm>
            <a:off x="1325880" y="5568696"/>
            <a:ext cx="4480560" cy="365760"/>
          </a:xfrm>
          <a:prstGeom prst="rect">
            <a:avLst/>
          </a:prstGeom>
          <a:noFill/>
          <a:ln/>
        </p:spPr>
        <p:txBody>
          <a:bodyPr wrap="square" lIns="0" tIns="0" rIns="0" bIns="0" rtlCol="0" anchor="ctr"/>
          <a:lstStyle/>
          <a:p>
            <a:pPr indent="0" marL="0">
              <a:buNone/>
            </a:pPr>
            <a:r>
              <a:rPr lang="en-US" sz="1400" dirty="0">
                <a:solidFill>
                  <a:schemeClr val="bg2"/>
                </a:solidFill>
              </a:rPr>
              <a:t>Dijkstra, A*, Hungarian dispatch</a:t>
            </a:r>
            <a:endParaRPr lang="en-US" sz="1400" dirty="0"/>
          </a:p>
        </p:txBody>
      </p:sp>
      <p:sp>
        <p:nvSpPr>
          <p:cNvPr id="32" name="Merkle tree"/>
          <p:cNvSpPr/>
          <p:nvPr/>
        </p:nvSpPr>
        <p:spPr>
          <a:xfrm>
            <a:off x="6172200" y="5038344"/>
            <a:ext cx="5440680" cy="1024128"/>
          </a:xfrm>
          <a:prstGeom prst="roundRect">
            <a:avLst>
              <a:gd name="adj" fmla="val 7143"/>
            </a:avLst>
          </a:prstGeom>
          <a:solidFill>
            <a:schemeClr val="tx2"/>
          </a:solidFill>
          <a:ln w="12700">
            <a:solidFill>
              <a:schemeClr val="tx2"/>
            </a:solidFill>
            <a:prstDash val="solid"/>
          </a:ln>
        </p:spPr>
      </p:sp>
      <p:sp>
        <p:nvSpPr>
          <p:cNvPr id="33" name="Merkle tree marker"/>
          <p:cNvSpPr/>
          <p:nvPr/>
        </p:nvSpPr>
        <p:spPr>
          <a:xfrm>
            <a:off x="6400800" y="5367528"/>
            <a:ext cx="365760" cy="365760"/>
          </a:xfrm>
          <a:prstGeom prst="ellipse">
            <a:avLst/>
          </a:prstGeom>
          <a:solidFill>
            <a:schemeClr val="accent6"/>
          </a:solidFill>
          <a:ln w="12700">
            <a:solidFill>
              <a:schemeClr val="accent6"/>
            </a:solidFill>
            <a:prstDash val="solid"/>
          </a:ln>
        </p:spPr>
      </p:sp>
      <p:sp>
        <p:nvSpPr>
          <p:cNvPr id="34" name="Merkle tree title"/>
          <p:cNvSpPr txBox="1"/>
          <p:nvPr/>
        </p:nvSpPr>
        <p:spPr>
          <a:xfrm>
            <a:off x="6949440" y="5166360"/>
            <a:ext cx="4480560" cy="411480"/>
          </a:xfrm>
          <a:prstGeom prst="rect">
            <a:avLst/>
          </a:prstGeom>
          <a:noFill/>
          <a:ln/>
        </p:spPr>
        <p:txBody>
          <a:bodyPr wrap="square" lIns="0" tIns="0" rIns="0" bIns="0" rtlCol="0" anchor="ctr"/>
          <a:lstStyle/>
          <a:p>
            <a:pPr indent="0" marL="0">
              <a:buNone/>
            </a:pPr>
            <a:r>
              <a:rPr lang="en-US" sz="1700" b="1" dirty="0">
                <a:solidFill>
                  <a:schemeClr val="bg1"/>
                </a:solidFill>
              </a:rPr>
              <a:t>Merkle tree</a:t>
            </a:r>
            <a:endParaRPr lang="en-US" sz="1700" dirty="0"/>
          </a:p>
        </p:txBody>
      </p:sp>
      <p:sp>
        <p:nvSpPr>
          <p:cNvPr id="35" name="Merkle tree text"/>
          <p:cNvSpPr txBox="1"/>
          <p:nvPr/>
        </p:nvSpPr>
        <p:spPr>
          <a:xfrm>
            <a:off x="6949440" y="5568696"/>
            <a:ext cx="4480560" cy="365760"/>
          </a:xfrm>
          <a:prstGeom prst="rect">
            <a:avLst/>
          </a:prstGeom>
          <a:noFill/>
          <a:ln/>
        </p:spPr>
        <p:txBody>
          <a:bodyPr wrap="square" lIns="0" tIns="0" rIns="0" bIns="0" rtlCol="0" anchor="ctr"/>
          <a:lstStyle/>
          <a:p>
            <a:pPr indent="0" marL="0">
              <a:buNone/>
            </a:pPr>
            <a:r>
              <a:rPr lang="en-US" sz="1400" dirty="0">
                <a:solidFill>
                  <a:schemeClr val="bg2"/>
                </a:solidFill>
              </a:rPr>
              <a:t>provably unedited event log</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Indexes make it hundreds of times faster, never different</a:t>
            </a:r>
            <a:endParaRPr lang="en-US" sz="3600" dirty="0"/>
          </a:p>
        </p:txBody>
      </p:sp>
      <p:pic>
        <p:nvPicPr>
          <p:cNvPr id="4" name="speedup chart" descr="Quadtree 32.7x and R-tree 224x in one district; 556x and 1027x at constant density">    </p:cNvPr>
          <p:cNvPicPr>
            <a:picLocks noChangeAspect="1"/>
          </p:cNvPicPr>
          <p:nvPr/>
        </p:nvPicPr>
        <p:blipFill>
          <a:blip r:embed="rId1"/>
          <a:stretch>
            <a:fillRect/>
          </a:stretch>
        </p:blipFill>
        <p:spPr>
          <a:xfrm>
            <a:off x="548640" y="1417320"/>
            <a:ext cx="6766560" cy="4429982"/>
          </a:xfrm>
          <a:prstGeom prst="rect">
            <a:avLst/>
          </a:prstGeom>
        </p:spPr>
      </p:pic>
      <p:sp>
        <p:nvSpPr>
          <p:cNvPr id="5" name="result stats"/>
          <p:cNvSpPr/>
          <p:nvPr/>
        </p:nvSpPr>
        <p:spPr>
          <a:xfrm>
            <a:off x="7680960" y="1371600"/>
            <a:ext cx="3931920" cy="4480560"/>
          </a:xfrm>
          <a:prstGeom prst="roundRect">
            <a:avLst>
              <a:gd name="adj" fmla="val 1860"/>
            </a:avLst>
          </a:prstGeom>
          <a:solidFill>
            <a:schemeClr val="tx2"/>
          </a:solidFill>
          <a:ln w="12700">
            <a:solidFill>
              <a:schemeClr val="tx2"/>
            </a:solidFill>
            <a:prstDash val="solid"/>
          </a:ln>
        </p:spPr>
      </p:sp>
      <p:sp>
        <p:nvSpPr>
          <p:cNvPr id="6" name="mismatch value"/>
          <p:cNvSpPr txBox="1"/>
          <p:nvPr/>
        </p:nvSpPr>
        <p:spPr>
          <a:xfrm>
            <a:off x="8001000" y="1600200"/>
            <a:ext cx="3383280" cy="822960"/>
          </a:xfrm>
          <a:prstGeom prst="rect">
            <a:avLst/>
          </a:prstGeom>
          <a:noFill/>
          <a:ln/>
        </p:spPr>
        <p:txBody>
          <a:bodyPr wrap="square" lIns="0" tIns="0" rIns="0" bIns="0" rtlCol="0" anchor="ctr"/>
          <a:lstStyle/>
          <a:p>
            <a:pPr indent="0" marL="0">
              <a:buNone/>
            </a:pPr>
            <a:r>
              <a:rPr lang="en-US" sz="4000" b="1" dirty="0">
                <a:solidFill>
                  <a:schemeClr val="accent1"/>
                </a:solidFill>
              </a:rPr>
              <a:t>0 mismatches</a:t>
            </a:r>
            <a:endParaRPr lang="en-US" sz="4000" dirty="0"/>
          </a:p>
        </p:txBody>
      </p:sp>
      <p:sp>
        <p:nvSpPr>
          <p:cNvPr id="7" name="mismatch label"/>
          <p:cNvSpPr txBox="1"/>
          <p:nvPr/>
        </p:nvSpPr>
        <p:spPr>
          <a:xfrm>
            <a:off x="8001000" y="2404872"/>
            <a:ext cx="3383280" cy="548640"/>
          </a:xfrm>
          <a:prstGeom prst="rect">
            <a:avLst/>
          </a:prstGeom>
          <a:noFill/>
          <a:ln/>
        </p:spPr>
        <p:txBody>
          <a:bodyPr wrap="square" lIns="0" tIns="0" rIns="0" bIns="0" rtlCol="0" anchor="t"/>
          <a:lstStyle/>
          <a:p>
            <a:pPr indent="0" marL="0">
              <a:buNone/>
            </a:pPr>
            <a:r>
              <a:rPr lang="en-US" sz="1300" dirty="0">
                <a:solidFill>
                  <a:schemeClr val="bg2"/>
                </a:solidFill>
              </a:rPr>
              <a:t>every index returns exactly the brute-force answer</a:t>
            </a:r>
            <a:endParaRPr lang="en-US" sz="1300" dirty="0"/>
          </a:p>
        </p:txBody>
      </p:sp>
      <p:sp>
        <p:nvSpPr>
          <p:cNvPr id="8" name="str value"/>
          <p:cNvSpPr txBox="1"/>
          <p:nvPr/>
        </p:nvSpPr>
        <p:spPr>
          <a:xfrm>
            <a:off x="8001000" y="2971800"/>
            <a:ext cx="3383280" cy="822960"/>
          </a:xfrm>
          <a:prstGeom prst="rect">
            <a:avLst/>
          </a:prstGeom>
          <a:noFill/>
          <a:ln/>
        </p:spPr>
        <p:txBody>
          <a:bodyPr wrap="square" lIns="0" tIns="0" rIns="0" bIns="0" rtlCol="0" anchor="ctr"/>
          <a:lstStyle/>
          <a:p>
            <a:pPr indent="0" marL="0">
              <a:buNone/>
            </a:pPr>
            <a:r>
              <a:rPr lang="en-US" sz="4000" b="1" dirty="0">
                <a:solidFill>
                  <a:schemeClr val="accent5"/>
                </a:solidFill>
              </a:rPr>
              <a:t>6.3× faster</a:t>
            </a:r>
            <a:endParaRPr lang="en-US" sz="4000" dirty="0"/>
          </a:p>
        </p:txBody>
      </p:sp>
      <p:sp>
        <p:nvSpPr>
          <p:cNvPr id="9" name="str label"/>
          <p:cNvSpPr txBox="1"/>
          <p:nvPr/>
        </p:nvSpPr>
        <p:spPr>
          <a:xfrm>
            <a:off x="8001000" y="3776472"/>
            <a:ext cx="3383280" cy="548640"/>
          </a:xfrm>
          <a:prstGeom prst="rect">
            <a:avLst/>
          </a:prstGeom>
          <a:noFill/>
          <a:ln/>
        </p:spPr>
        <p:txBody>
          <a:bodyPr wrap="square" lIns="0" tIns="0" rIns="0" bIns="0" rtlCol="0" anchor="t"/>
          <a:lstStyle/>
          <a:p>
            <a:pPr indent="0" marL="0">
              <a:buNone/>
            </a:pPr>
            <a:r>
              <a:rPr lang="en-US" sz="1300" dirty="0">
                <a:solidFill>
                  <a:schemeClr val="bg2"/>
                </a:solidFill>
              </a:rPr>
              <a:t>STR-packed vs insertion-built R-tree queries</a:t>
            </a:r>
            <a:endParaRPr lang="en-US" sz="1300" dirty="0"/>
          </a:p>
        </p:txBody>
      </p:sp>
      <p:sp>
        <p:nvSpPr>
          <p:cNvPr id="10" name="astar value"/>
          <p:cNvSpPr txBox="1"/>
          <p:nvPr/>
        </p:nvSpPr>
        <p:spPr>
          <a:xfrm>
            <a:off x="8001000" y="4343400"/>
            <a:ext cx="3383280" cy="822960"/>
          </a:xfrm>
          <a:prstGeom prst="rect">
            <a:avLst/>
          </a:prstGeom>
          <a:noFill/>
          <a:ln/>
        </p:spPr>
        <p:txBody>
          <a:bodyPr wrap="square" lIns="0" tIns="0" rIns="0" bIns="0" rtlCol="0" anchor="ctr"/>
          <a:lstStyle/>
          <a:p>
            <a:pPr indent="0" marL="0">
              <a:buNone/>
            </a:pPr>
            <a:r>
              <a:rPr lang="en-US" sz="4000" b="1" dirty="0">
                <a:solidFill>
                  <a:schemeClr val="accent2"/>
                </a:solidFill>
              </a:rPr>
              <a:t>≈ 75 % fewer</a:t>
            </a:r>
            <a:endParaRPr lang="en-US" sz="4000" dirty="0"/>
          </a:p>
        </p:txBody>
      </p:sp>
      <p:sp>
        <p:nvSpPr>
          <p:cNvPr id="11" name="astar label"/>
          <p:cNvSpPr txBox="1"/>
          <p:nvPr/>
        </p:nvSpPr>
        <p:spPr>
          <a:xfrm>
            <a:off x="8001000" y="5148072"/>
            <a:ext cx="3383280" cy="548640"/>
          </a:xfrm>
          <a:prstGeom prst="rect">
            <a:avLst/>
          </a:prstGeom>
          <a:noFill/>
          <a:ln/>
        </p:spPr>
        <p:txBody>
          <a:bodyPr wrap="square" lIns="0" tIns="0" rIns="0" bIns="0" rtlCol="0" anchor="t"/>
          <a:lstStyle/>
          <a:p>
            <a:pPr indent="0" marL="0">
              <a:buNone/>
            </a:pPr>
            <a:r>
              <a:rPr lang="en-US" sz="1300" dirty="0">
                <a:solidFill>
                  <a:schemeClr val="bg2"/>
                </a:solidFill>
              </a:rPr>
              <a:t>junctions settled by A* than by Dijkstra</a:t>
            </a:r>
            <a:endParaRPr lang="en-US" sz="1300" dirty="0"/>
          </a:p>
        </p:txBody>
      </p:sp>
      <p:sp>
        <p:nvSpPr>
          <p:cNvPr id="12" name="results source"/>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100" dirty="0">
                <a:solidFill>
                  <a:schemeClr val="bg2"/>
                </a:solidFill>
              </a:rPr>
              <a:t>Apple M4, medians of 11 interleaved rounds, paired ratios — bench/results/*.csv, regenerated by make bench</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Thousands of independent users, the same cost per fix</a:t>
            </a:r>
            <a:endParaRPr lang="en-US" sz="3600" dirty="0"/>
          </a:p>
        </p:txBody>
      </p:sp>
      <p:pic>
        <p:nvPicPr>
          <p:cNvPr id="4" name="multi-user chart" descr="Microseconds per fix for in-order, user-batched and noisy streams, 1 to 5000 users: 3.40, 2.78, 3.19, 3.34, 3.75">    </p:cNvPr>
          <p:cNvPicPr>
            <a:picLocks noChangeAspect="1"/>
          </p:cNvPicPr>
          <p:nvPr/>
        </p:nvPicPr>
        <p:blipFill>
          <a:blip r:embed="rId1"/>
          <a:stretch>
            <a:fillRect/>
          </a:stretch>
        </p:blipFill>
        <p:spPr>
          <a:xfrm>
            <a:off x="548640" y="1417320"/>
            <a:ext cx="6949440" cy="4102379"/>
          </a:xfrm>
          <a:prstGeom prst="rect">
            <a:avLst/>
          </a:prstGeom>
        </p:spPr>
      </p:pic>
      <p:sp>
        <p:nvSpPr>
          <p:cNvPr id="5" name="multi-user stats"/>
          <p:cNvSpPr/>
          <p:nvPr/>
        </p:nvSpPr>
        <p:spPr>
          <a:xfrm>
            <a:off x="7863840" y="1371600"/>
            <a:ext cx="3749040" cy="4480560"/>
          </a:xfrm>
          <a:prstGeom prst="roundRect">
            <a:avLst>
              <a:gd name="adj" fmla="val 1951"/>
            </a:avLst>
          </a:prstGeom>
          <a:solidFill>
            <a:schemeClr val="tx2"/>
          </a:solidFill>
          <a:ln w="12700">
            <a:solidFill>
              <a:schemeClr val="tx2"/>
            </a:solidFill>
            <a:prstDash val="solid"/>
          </a:ln>
        </p:spPr>
      </p:sp>
      <p:sp>
        <p:nvSpPr>
          <p:cNvPr id="6" name="throughput value"/>
          <p:cNvSpPr txBox="1"/>
          <p:nvPr/>
        </p:nvSpPr>
        <p:spPr>
          <a:xfrm>
            <a:off x="8183880" y="1600200"/>
            <a:ext cx="3200400" cy="822960"/>
          </a:xfrm>
          <a:prstGeom prst="rect">
            <a:avLst/>
          </a:prstGeom>
          <a:noFill/>
          <a:ln/>
        </p:spPr>
        <p:txBody>
          <a:bodyPr wrap="square" lIns="0" tIns="0" rIns="0" bIns="0" rtlCol="0" anchor="ctr"/>
          <a:lstStyle/>
          <a:p>
            <a:pPr indent="0" marL="0">
              <a:buNone/>
            </a:pPr>
            <a:r>
              <a:rPr lang="en-US" sz="4000" b="1" dirty="0">
                <a:solidFill>
                  <a:schemeClr val="accent1"/>
                </a:solidFill>
              </a:rPr>
              <a:t>≈ 300,000</a:t>
            </a:r>
            <a:endParaRPr lang="en-US" sz="4000" dirty="0"/>
          </a:p>
        </p:txBody>
      </p:sp>
      <p:sp>
        <p:nvSpPr>
          <p:cNvPr id="7" name="throughput label"/>
          <p:cNvSpPr txBox="1"/>
          <p:nvPr/>
        </p:nvSpPr>
        <p:spPr>
          <a:xfrm>
            <a:off x="8183880" y="2404872"/>
            <a:ext cx="3200400" cy="548640"/>
          </a:xfrm>
          <a:prstGeom prst="rect">
            <a:avLst/>
          </a:prstGeom>
          <a:noFill/>
          <a:ln/>
        </p:spPr>
        <p:txBody>
          <a:bodyPr wrap="square" lIns="0" tIns="0" rIns="0" bIns="0" rtlCol="0" anchor="t"/>
          <a:lstStyle/>
          <a:p>
            <a:pPr indent="0" marL="0">
              <a:buNone/>
            </a:pPr>
            <a:r>
              <a:rPr lang="en-US" sz="1300" dirty="0">
                <a:solidFill>
                  <a:schemeClr val="bg2"/>
                </a:solidFill>
              </a:rPr>
              <a:t>fixes per second on one core</a:t>
            </a:r>
            <a:endParaRPr lang="en-US" sz="1300" dirty="0"/>
          </a:p>
        </p:txBody>
      </p:sp>
      <p:sp>
        <p:nvSpPr>
          <p:cNvPr id="8" name="memory value"/>
          <p:cNvSpPr txBox="1"/>
          <p:nvPr/>
        </p:nvSpPr>
        <p:spPr>
          <a:xfrm>
            <a:off x="8183880" y="2971800"/>
            <a:ext cx="3200400" cy="822960"/>
          </a:xfrm>
          <a:prstGeom prst="rect">
            <a:avLst/>
          </a:prstGeom>
          <a:noFill/>
          <a:ln/>
        </p:spPr>
        <p:txBody>
          <a:bodyPr wrap="square" lIns="0" tIns="0" rIns="0" bIns="0" rtlCol="0" anchor="ctr"/>
          <a:lstStyle/>
          <a:p>
            <a:pPr indent="0" marL="0">
              <a:buNone/>
            </a:pPr>
            <a:r>
              <a:rPr lang="en-US" sz="4000" b="1" dirty="0">
                <a:solidFill>
                  <a:schemeClr val="accent5"/>
                </a:solidFill>
              </a:rPr>
              <a:t>≈ 6.9 KB</a:t>
            </a:r>
            <a:endParaRPr lang="en-US" sz="4000" dirty="0"/>
          </a:p>
        </p:txBody>
      </p:sp>
      <p:sp>
        <p:nvSpPr>
          <p:cNvPr id="9" name="memory label"/>
          <p:cNvSpPr txBox="1"/>
          <p:nvPr/>
        </p:nvSpPr>
        <p:spPr>
          <a:xfrm>
            <a:off x="8183880" y="3776472"/>
            <a:ext cx="3200400" cy="548640"/>
          </a:xfrm>
          <a:prstGeom prst="rect">
            <a:avLst/>
          </a:prstGeom>
          <a:noFill/>
          <a:ln/>
        </p:spPr>
        <p:txBody>
          <a:bodyPr wrap="square" lIns="0" tIns="0" rIns="0" bIns="0" rtlCol="0" anchor="t"/>
          <a:lstStyle/>
          <a:p>
            <a:pPr indent="0" marL="0">
              <a:buNone/>
            </a:pPr>
            <a:r>
              <a:rPr lang="en-US" sz="1300" dirty="0">
                <a:solidFill>
                  <a:schemeClr val="bg2"/>
                </a:solidFill>
              </a:rPr>
              <a:t>of state per tracked user</a:t>
            </a:r>
            <a:endParaRPr lang="en-US" sz="1300" dirty="0"/>
          </a:p>
        </p:txBody>
      </p:sp>
      <p:sp>
        <p:nvSpPr>
          <p:cNvPr id="10" name="noisy value"/>
          <p:cNvSpPr txBox="1"/>
          <p:nvPr/>
        </p:nvSpPr>
        <p:spPr>
          <a:xfrm>
            <a:off x="8183880" y="4343400"/>
            <a:ext cx="3200400" cy="822960"/>
          </a:xfrm>
          <a:prstGeom prst="rect">
            <a:avLst/>
          </a:prstGeom>
          <a:noFill/>
          <a:ln/>
        </p:spPr>
        <p:txBody>
          <a:bodyPr wrap="square" lIns="0" tIns="0" rIns="0" bIns="0" rtlCol="0" anchor="ctr"/>
          <a:lstStyle/>
          <a:p>
            <a:pPr indent="0" marL="0">
              <a:buNone/>
            </a:pPr>
            <a:r>
              <a:rPr lang="en-US" sz="4000" b="1" dirty="0">
                <a:solidFill>
                  <a:schemeClr val="accent2"/>
                </a:solidFill>
              </a:rPr>
              <a:t>Exact</a:t>
            </a:r>
            <a:endParaRPr lang="en-US" sz="4000" dirty="0"/>
          </a:p>
        </p:txBody>
      </p:sp>
      <p:sp>
        <p:nvSpPr>
          <p:cNvPr id="11" name="noisy label"/>
          <p:cNvSpPr txBox="1"/>
          <p:nvPr/>
        </p:nvSpPr>
        <p:spPr>
          <a:xfrm>
            <a:off x="8183880" y="5148072"/>
            <a:ext cx="3200400" cy="548640"/>
          </a:xfrm>
          <a:prstGeom prst="rect">
            <a:avLst/>
          </a:prstGeom>
          <a:noFill/>
          <a:ln/>
        </p:spPr>
        <p:txBody>
          <a:bodyPr wrap="square" lIns="0" tIns="0" rIns="0" bIns="0" rtlCol="0" anchor="t"/>
          <a:lstStyle/>
          <a:p>
            <a:pPr indent="0" marL="0">
              <a:buNone/>
            </a:pPr>
            <a:r>
              <a:rPr lang="en-US" sz="1300" dirty="0">
                <a:solidFill>
                  <a:schemeClr val="bg2"/>
                </a:solidFill>
              </a:rPr>
              <a:t>duplicate and late-fix counters in the noisy stream</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Correctness is tested, not assumed</a:t>
            </a:r>
            <a:endParaRPr lang="en-US" sz="3600" dirty="0"/>
          </a:p>
        </p:txBody>
      </p:sp>
      <p:sp>
        <p:nvSpPr>
          <p:cNvPr id="4" name="correctness test files value"/>
          <p:cNvSpPr txBox="1"/>
          <p:nvPr/>
        </p:nvSpPr>
        <p:spPr>
          <a:xfrm>
            <a:off x="548640" y="1463040"/>
            <a:ext cx="2560320" cy="822960"/>
          </a:xfrm>
          <a:prstGeom prst="rect">
            <a:avLst/>
          </a:prstGeom>
          <a:noFill/>
          <a:ln/>
        </p:spPr>
        <p:txBody>
          <a:bodyPr wrap="square" lIns="0" tIns="0" rIns="0" bIns="0" rtlCol="0" anchor="ctr"/>
          <a:lstStyle/>
          <a:p>
            <a:pPr indent="0" marL="0">
              <a:buNone/>
            </a:pPr>
            <a:r>
              <a:rPr lang="en-US" sz="4000" b="1" dirty="0">
                <a:solidFill>
                  <a:schemeClr val="accent1"/>
                </a:solidFill>
              </a:rPr>
              <a:t>51</a:t>
            </a:r>
            <a:endParaRPr lang="en-US" sz="4000" dirty="0"/>
          </a:p>
        </p:txBody>
      </p:sp>
      <p:sp>
        <p:nvSpPr>
          <p:cNvPr id="5" name="correctness test files label"/>
          <p:cNvSpPr txBox="1"/>
          <p:nvPr/>
        </p:nvSpPr>
        <p:spPr>
          <a:xfrm>
            <a:off x="548640" y="2267712"/>
            <a:ext cx="2560320" cy="548640"/>
          </a:xfrm>
          <a:prstGeom prst="rect">
            <a:avLst/>
          </a:prstGeom>
          <a:noFill/>
          <a:ln/>
        </p:spPr>
        <p:txBody>
          <a:bodyPr wrap="square" lIns="0" tIns="0" rIns="0" bIns="0" rtlCol="0" anchor="t"/>
          <a:lstStyle/>
          <a:p>
            <a:pPr indent="0" marL="0">
              <a:buNone/>
            </a:pPr>
            <a:r>
              <a:rPr lang="en-US" sz="1300" dirty="0">
                <a:solidFill>
                  <a:schemeClr val="bg2"/>
                </a:solidFill>
              </a:rPr>
              <a:t>test files</a:t>
            </a:r>
            <a:endParaRPr lang="en-US" sz="1300" dirty="0"/>
          </a:p>
        </p:txBody>
      </p:sp>
      <p:sp>
        <p:nvSpPr>
          <p:cNvPr id="6" name="correctness checks, 0 failed value"/>
          <p:cNvSpPr txBox="1"/>
          <p:nvPr/>
        </p:nvSpPr>
        <p:spPr>
          <a:xfrm>
            <a:off x="3291840" y="1463040"/>
            <a:ext cx="2560320" cy="822960"/>
          </a:xfrm>
          <a:prstGeom prst="rect">
            <a:avLst/>
          </a:prstGeom>
          <a:noFill/>
          <a:ln/>
        </p:spPr>
        <p:txBody>
          <a:bodyPr wrap="square" lIns="0" tIns="0" rIns="0" bIns="0" rtlCol="0" anchor="ctr"/>
          <a:lstStyle/>
          <a:p>
            <a:pPr indent="0" marL="0">
              <a:buNone/>
            </a:pPr>
            <a:r>
              <a:rPr lang="en-US" sz="4000" b="1" dirty="0">
                <a:solidFill>
                  <a:schemeClr val="accent1"/>
                </a:solidFill>
              </a:rPr>
              <a:t>12,066</a:t>
            </a:r>
            <a:endParaRPr lang="en-US" sz="4000" dirty="0"/>
          </a:p>
        </p:txBody>
      </p:sp>
      <p:sp>
        <p:nvSpPr>
          <p:cNvPr id="7" name="correctness checks, 0 failed label"/>
          <p:cNvSpPr txBox="1"/>
          <p:nvPr/>
        </p:nvSpPr>
        <p:spPr>
          <a:xfrm>
            <a:off x="3291840" y="2267712"/>
            <a:ext cx="2560320" cy="548640"/>
          </a:xfrm>
          <a:prstGeom prst="rect">
            <a:avLst/>
          </a:prstGeom>
          <a:noFill/>
          <a:ln/>
        </p:spPr>
        <p:txBody>
          <a:bodyPr wrap="square" lIns="0" tIns="0" rIns="0" bIns="0" rtlCol="0" anchor="t"/>
          <a:lstStyle/>
          <a:p>
            <a:pPr indent="0" marL="0">
              <a:buNone/>
            </a:pPr>
            <a:r>
              <a:rPr lang="en-US" sz="1300" dirty="0">
                <a:solidFill>
                  <a:schemeClr val="bg2"/>
                </a:solidFill>
              </a:rPr>
              <a:t>checks, 0 failed</a:t>
            </a:r>
            <a:endParaRPr lang="en-US" sz="1300" dirty="0"/>
          </a:p>
        </p:txBody>
      </p:sp>
      <p:sp>
        <p:nvSpPr>
          <p:cNvPr id="8" name="correctness injected bugs caught value"/>
          <p:cNvSpPr txBox="1"/>
          <p:nvPr/>
        </p:nvSpPr>
        <p:spPr>
          <a:xfrm>
            <a:off x="548640" y="3063240"/>
            <a:ext cx="2560320" cy="822960"/>
          </a:xfrm>
          <a:prstGeom prst="rect">
            <a:avLst/>
          </a:prstGeom>
          <a:noFill/>
          <a:ln/>
        </p:spPr>
        <p:txBody>
          <a:bodyPr wrap="square" lIns="0" tIns="0" rIns="0" bIns="0" rtlCol="0" anchor="ctr"/>
          <a:lstStyle/>
          <a:p>
            <a:pPr indent="0" marL="0">
              <a:buNone/>
            </a:pPr>
            <a:r>
              <a:rPr lang="en-US" sz="4000" b="1" dirty="0">
                <a:solidFill>
                  <a:schemeClr val="accent2"/>
                </a:solidFill>
              </a:rPr>
              <a:t>28 / 28</a:t>
            </a:r>
            <a:endParaRPr lang="en-US" sz="4000" dirty="0"/>
          </a:p>
        </p:txBody>
      </p:sp>
      <p:sp>
        <p:nvSpPr>
          <p:cNvPr id="9" name="correctness injected bugs caught label"/>
          <p:cNvSpPr txBox="1"/>
          <p:nvPr/>
        </p:nvSpPr>
        <p:spPr>
          <a:xfrm>
            <a:off x="548640" y="3867912"/>
            <a:ext cx="2560320" cy="548640"/>
          </a:xfrm>
          <a:prstGeom prst="rect">
            <a:avLst/>
          </a:prstGeom>
          <a:noFill/>
          <a:ln/>
        </p:spPr>
        <p:txBody>
          <a:bodyPr wrap="square" lIns="0" tIns="0" rIns="0" bIns="0" rtlCol="0" anchor="t"/>
          <a:lstStyle/>
          <a:p>
            <a:pPr indent="0" marL="0">
              <a:buNone/>
            </a:pPr>
            <a:r>
              <a:rPr lang="en-US" sz="1300" dirty="0">
                <a:solidFill>
                  <a:schemeClr val="bg2"/>
                </a:solidFill>
              </a:rPr>
              <a:t>injected bugs caught</a:t>
            </a:r>
            <a:endParaRPr lang="en-US" sz="1300" dirty="0"/>
          </a:p>
        </p:txBody>
      </p:sp>
      <p:sp>
        <p:nvSpPr>
          <p:cNvPr id="10" name="correctness end-to-end HTTP checks value"/>
          <p:cNvSpPr txBox="1"/>
          <p:nvPr/>
        </p:nvSpPr>
        <p:spPr>
          <a:xfrm>
            <a:off x="3291840" y="3063240"/>
            <a:ext cx="2560320" cy="822960"/>
          </a:xfrm>
          <a:prstGeom prst="rect">
            <a:avLst/>
          </a:prstGeom>
          <a:noFill/>
          <a:ln/>
        </p:spPr>
        <p:txBody>
          <a:bodyPr wrap="square" lIns="0" tIns="0" rIns="0" bIns="0" rtlCol="0" anchor="ctr"/>
          <a:lstStyle/>
          <a:p>
            <a:pPr indent="0" marL="0">
              <a:buNone/>
            </a:pPr>
            <a:r>
              <a:rPr lang="en-US" sz="4000" b="1" dirty="0">
                <a:solidFill>
                  <a:schemeClr val="accent5"/>
                </a:solidFill>
              </a:rPr>
              <a:t>29</a:t>
            </a:r>
            <a:endParaRPr lang="en-US" sz="4000" dirty="0"/>
          </a:p>
        </p:txBody>
      </p:sp>
      <p:sp>
        <p:nvSpPr>
          <p:cNvPr id="11" name="correctness end-to-end HTTP checks label"/>
          <p:cNvSpPr txBox="1"/>
          <p:nvPr/>
        </p:nvSpPr>
        <p:spPr>
          <a:xfrm>
            <a:off x="3291840" y="3867912"/>
            <a:ext cx="2560320" cy="548640"/>
          </a:xfrm>
          <a:prstGeom prst="rect">
            <a:avLst/>
          </a:prstGeom>
          <a:noFill/>
          <a:ln/>
        </p:spPr>
        <p:txBody>
          <a:bodyPr wrap="square" lIns="0" tIns="0" rIns="0" bIns="0" rtlCol="0" anchor="t"/>
          <a:lstStyle/>
          <a:p>
            <a:pPr indent="0" marL="0">
              <a:buNone/>
            </a:pPr>
            <a:r>
              <a:rPr lang="en-US" sz="1300" dirty="0">
                <a:solidFill>
                  <a:schemeClr val="bg2"/>
                </a:solidFill>
              </a:rPr>
              <a:t>end-to-end HTTP checks</a:t>
            </a:r>
            <a:endParaRPr lang="en-US" sz="1300" dirty="0"/>
          </a:p>
        </p:txBody>
      </p:sp>
      <p:sp>
        <p:nvSpPr>
          <p:cNvPr id="12" name="method bullets"/>
          <p:cNvSpPr txBox="1"/>
          <p:nvPr/>
        </p:nvSpPr>
        <p:spPr>
          <a:xfrm>
            <a:off x="548640" y="4709160"/>
            <a:ext cx="5303520" cy="146304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chemeClr val="bg1"/>
                </a:solidFill>
              </a:rPr>
              <a:t>Oracles for every fast structure</a:t>
            </a:r>
            <a:endParaRPr lang="en-US" sz="1500" dirty="0"/>
          </a:p>
          <a:p>
            <a:pPr marL="342900" indent="-342900">
              <a:spcAft>
                <a:spcPts val="400"/>
              </a:spcAft>
              <a:buSzPct val="100000"/>
              <a:buChar char="•"/>
            </a:pPr>
            <a:r>
              <a:rPr lang="en-US" sz="1500" dirty="0">
                <a:solidFill>
                  <a:schemeClr val="bg1"/>
                </a:solidFill>
              </a:rPr>
              <a:t>Invariant audit after every operation</a:t>
            </a:r>
            <a:endParaRPr lang="en-US" sz="1500" dirty="0"/>
          </a:p>
          <a:p>
            <a:pPr marL="342900" indent="-342900">
              <a:spcAft>
                <a:spcPts val="400"/>
              </a:spcAft>
              <a:buSzPct val="100000"/>
              <a:buChar char="•"/>
            </a:pPr>
            <a:r>
              <a:rPr lang="en-US" sz="1500" dirty="0">
                <a:solidFill>
                  <a:schemeClr val="bg1"/>
                </a:solidFill>
              </a:rPr>
              <a:t>Same events under all four indexes</a:t>
            </a:r>
            <a:endParaRPr lang="en-US" sz="1500" dirty="0"/>
          </a:p>
          <a:p>
            <a:pPr marL="342900" indent="-342900">
              <a:spcAft>
                <a:spcPts val="400"/>
              </a:spcAft>
              <a:buSzPct val="100000"/>
              <a:buChar char="•"/>
            </a:pPr>
            <a:r>
              <a:rPr lang="en-US" sz="1500" dirty="0">
                <a:solidFill>
                  <a:schemeClr val="bg1"/>
                </a:solidFill>
              </a:rPr>
              <a:t>Same bytes on macOS and Linux (CI)</a:t>
            </a:r>
            <a:endParaRPr lang="en-US" sz="1500" dirty="0"/>
          </a:p>
        </p:txBody>
      </p:sp>
      <p:pic>
        <p:nvPicPr>
          <p:cNvPr id="13" name="lab screenshot" descr="lab screenshot">    </p:cNvPr>
          <p:cNvPicPr>
            <a:picLocks noChangeAspect="1"/>
          </p:cNvPicPr>
          <p:nvPr/>
        </p:nvPicPr>
        <p:blipFill>
          <a:blip r:embed="rId1"/>
          <a:stretch>
            <a:fillRect/>
          </a:stretch>
        </p:blipFill>
        <p:spPr>
          <a:xfrm>
            <a:off x="6309360" y="1463040"/>
            <a:ext cx="5303520" cy="3314700"/>
          </a:xfrm>
          <a:prstGeom prst="rect">
            <a:avLst/>
          </a:prstGeom>
        </p:spPr>
      </p:pic>
      <p:sp>
        <p:nvSpPr>
          <p:cNvPr id="14" name="lab caption"/>
          <p:cNvSpPr txBox="1"/>
          <p:nvPr/>
        </p:nvSpPr>
        <p:spPr>
          <a:xfrm>
            <a:off x="6309360" y="4864608"/>
            <a:ext cx="5303520" cy="548640"/>
          </a:xfrm>
          <a:prstGeom prst="rect">
            <a:avLst/>
          </a:prstGeom>
          <a:noFill/>
          <a:ln/>
        </p:spPr>
        <p:txBody>
          <a:bodyPr wrap="square" lIns="0" tIns="0" rIns="0" bIns="0" rtlCol="0" anchor="ctr"/>
          <a:lstStyle/>
          <a:p>
            <a:pPr indent="0" marL="0">
              <a:buNone/>
            </a:pPr>
            <a:r>
              <a:rPr lang="en-US" sz="1100" dirty="0">
                <a:solidFill>
                  <a:schemeClr val="bg2"/>
                </a:solidFill>
              </a:rPr>
              <a:t>Data Structures Lab: the real quadtree's visited (teal) and pruned (red) nodes; every index vs brute force</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A safety system, not a surveillance tool</a:t>
            </a:r>
            <a:endParaRPr lang="en-US" sz="3600" dirty="0"/>
          </a:p>
        </p:txBody>
      </p:sp>
      <p:sp>
        <p:nvSpPr>
          <p:cNvPr id="4" name="Opt-in marker"/>
          <p:cNvSpPr/>
          <p:nvPr/>
        </p:nvSpPr>
        <p:spPr>
          <a:xfrm>
            <a:off x="548640" y="1527048"/>
            <a:ext cx="329184" cy="329184"/>
          </a:xfrm>
          <a:prstGeom prst="ellipse">
            <a:avLst/>
          </a:prstGeom>
          <a:solidFill>
            <a:schemeClr val="accent1"/>
          </a:solidFill>
          <a:ln w="12700">
            <a:solidFill>
              <a:schemeClr val="accent1"/>
            </a:solidFill>
            <a:prstDash val="solid"/>
          </a:ln>
        </p:spPr>
      </p:sp>
      <p:sp>
        <p:nvSpPr>
          <p:cNvPr id="5" name="Opt-in title"/>
          <p:cNvSpPr txBox="1"/>
          <p:nvPr/>
        </p:nvSpPr>
        <p:spPr>
          <a:xfrm>
            <a:off x="1051560" y="1417320"/>
            <a:ext cx="4572000" cy="365760"/>
          </a:xfrm>
          <a:prstGeom prst="rect">
            <a:avLst/>
          </a:prstGeom>
          <a:noFill/>
          <a:ln/>
        </p:spPr>
        <p:txBody>
          <a:bodyPr wrap="square" lIns="0" tIns="0" rIns="0" bIns="0" rtlCol="0" anchor="ctr"/>
          <a:lstStyle/>
          <a:p>
            <a:pPr indent="0" marL="0">
              <a:buNone/>
            </a:pPr>
            <a:r>
              <a:rPr lang="en-US" sz="1700" b="1" dirty="0">
                <a:solidFill>
                  <a:schemeClr val="bg1"/>
                </a:solidFill>
              </a:rPr>
              <a:t>Opt-in</a:t>
            </a:r>
            <a:endParaRPr lang="en-US" sz="1700" dirty="0"/>
          </a:p>
        </p:txBody>
      </p:sp>
      <p:sp>
        <p:nvSpPr>
          <p:cNvPr id="6" name="Opt-in text"/>
          <p:cNvSpPr txBox="1"/>
          <p:nvPr/>
        </p:nvSpPr>
        <p:spPr>
          <a:xfrm>
            <a:off x="1051560" y="1764792"/>
            <a:ext cx="4572000" cy="347472"/>
          </a:xfrm>
          <a:prstGeom prst="rect">
            <a:avLst/>
          </a:prstGeom>
          <a:noFill/>
          <a:ln/>
        </p:spPr>
        <p:txBody>
          <a:bodyPr wrap="square" lIns="0" tIns="0" rIns="0" bIns="0" rtlCol="0" anchor="ctr"/>
          <a:lstStyle/>
          <a:p>
            <a:pPr indent="0" marL="0">
              <a:buNone/>
            </a:pPr>
            <a:r>
              <a:rPr lang="en-US" sz="1400" dirty="0">
                <a:solidFill>
                  <a:schemeClr val="bg2"/>
                </a:solidFill>
              </a:rPr>
              <a:t>only the person can consent and start sharing</a:t>
            </a:r>
            <a:endParaRPr lang="en-US" sz="1400" dirty="0"/>
          </a:p>
        </p:txBody>
      </p:sp>
      <p:sp>
        <p:nvSpPr>
          <p:cNvPr id="7" name="Stop any time marker"/>
          <p:cNvSpPr/>
          <p:nvPr/>
        </p:nvSpPr>
        <p:spPr>
          <a:xfrm>
            <a:off x="548640" y="2313432"/>
            <a:ext cx="329184" cy="329184"/>
          </a:xfrm>
          <a:prstGeom prst="ellipse">
            <a:avLst/>
          </a:prstGeom>
          <a:solidFill>
            <a:schemeClr val="accent1"/>
          </a:solidFill>
          <a:ln w="12700">
            <a:solidFill>
              <a:schemeClr val="accent1"/>
            </a:solidFill>
            <a:prstDash val="solid"/>
          </a:ln>
        </p:spPr>
      </p:sp>
      <p:sp>
        <p:nvSpPr>
          <p:cNvPr id="8" name="Stop any time title"/>
          <p:cNvSpPr txBox="1"/>
          <p:nvPr/>
        </p:nvSpPr>
        <p:spPr>
          <a:xfrm>
            <a:off x="1051560" y="2203704"/>
            <a:ext cx="4572000" cy="365760"/>
          </a:xfrm>
          <a:prstGeom prst="rect">
            <a:avLst/>
          </a:prstGeom>
          <a:noFill/>
          <a:ln/>
        </p:spPr>
        <p:txBody>
          <a:bodyPr wrap="square" lIns="0" tIns="0" rIns="0" bIns="0" rtlCol="0" anchor="ctr"/>
          <a:lstStyle/>
          <a:p>
            <a:pPr indent="0" marL="0">
              <a:buNone/>
            </a:pPr>
            <a:r>
              <a:rPr lang="en-US" sz="1700" b="1" dirty="0">
                <a:solidFill>
                  <a:schemeClr val="bg1"/>
                </a:solidFill>
              </a:rPr>
              <a:t>Stop any time</a:t>
            </a:r>
            <a:endParaRPr lang="en-US" sz="1700" dirty="0"/>
          </a:p>
        </p:txBody>
      </p:sp>
      <p:sp>
        <p:nvSpPr>
          <p:cNvPr id="9" name="Stop any time text"/>
          <p:cNvSpPr txBox="1"/>
          <p:nvPr/>
        </p:nvSpPr>
        <p:spPr>
          <a:xfrm>
            <a:off x="1051560" y="2551176"/>
            <a:ext cx="4572000" cy="347472"/>
          </a:xfrm>
          <a:prstGeom prst="rect">
            <a:avLst/>
          </a:prstGeom>
          <a:noFill/>
          <a:ln/>
        </p:spPr>
        <p:txBody>
          <a:bodyPr wrap="square" lIns="0" tIns="0" rIns="0" bIns="0" rtlCol="0" anchor="ctr"/>
          <a:lstStyle/>
          <a:p>
            <a:pPr indent="0" marL="0">
              <a:buNone/>
            </a:pPr>
            <a:r>
              <a:rPr lang="en-US" sz="1400" dirty="0">
                <a:solidFill>
                  <a:schemeClr val="bg2"/>
                </a:solidFill>
              </a:rPr>
              <a:t>zone state discarded, no invented exit</a:t>
            </a:r>
            <a:endParaRPr lang="en-US" sz="1400" dirty="0"/>
          </a:p>
        </p:txBody>
      </p:sp>
      <p:sp>
        <p:nvSpPr>
          <p:cNvPr id="10" name="Retention + erasure marker"/>
          <p:cNvSpPr/>
          <p:nvPr/>
        </p:nvSpPr>
        <p:spPr>
          <a:xfrm>
            <a:off x="548640" y="3099816"/>
            <a:ext cx="329184" cy="329184"/>
          </a:xfrm>
          <a:prstGeom prst="ellipse">
            <a:avLst/>
          </a:prstGeom>
          <a:solidFill>
            <a:schemeClr val="accent2"/>
          </a:solidFill>
          <a:ln w="12700">
            <a:solidFill>
              <a:schemeClr val="accent2"/>
            </a:solidFill>
            <a:prstDash val="solid"/>
          </a:ln>
        </p:spPr>
      </p:sp>
      <p:sp>
        <p:nvSpPr>
          <p:cNvPr id="11" name="Retention + erasure title"/>
          <p:cNvSpPr txBox="1"/>
          <p:nvPr/>
        </p:nvSpPr>
        <p:spPr>
          <a:xfrm>
            <a:off x="1051560" y="2990088"/>
            <a:ext cx="4572000" cy="365760"/>
          </a:xfrm>
          <a:prstGeom prst="rect">
            <a:avLst/>
          </a:prstGeom>
          <a:noFill/>
          <a:ln/>
        </p:spPr>
        <p:txBody>
          <a:bodyPr wrap="square" lIns="0" tIns="0" rIns="0" bIns="0" rtlCol="0" anchor="ctr"/>
          <a:lstStyle/>
          <a:p>
            <a:pPr indent="0" marL="0">
              <a:buNone/>
            </a:pPr>
            <a:r>
              <a:rPr lang="en-US" sz="1700" b="1" dirty="0">
                <a:solidFill>
                  <a:schemeClr val="bg1"/>
                </a:solidFill>
              </a:rPr>
              <a:t>Retention + erasure</a:t>
            </a:r>
            <a:endParaRPr lang="en-US" sz="1700" dirty="0"/>
          </a:p>
        </p:txBody>
      </p:sp>
      <p:sp>
        <p:nvSpPr>
          <p:cNvPr id="12" name="Retention + erasure text"/>
          <p:cNvSpPr txBox="1"/>
          <p:nvPr/>
        </p:nvSpPr>
        <p:spPr>
          <a:xfrm>
            <a:off x="1051560" y="3337560"/>
            <a:ext cx="4572000" cy="347472"/>
          </a:xfrm>
          <a:prstGeom prst="rect">
            <a:avLst/>
          </a:prstGeom>
          <a:noFill/>
          <a:ln/>
        </p:spPr>
        <p:txBody>
          <a:bodyPr wrap="square" lIns="0" tIns="0" rIns="0" bIns="0" rtlCol="0" anchor="ctr"/>
          <a:lstStyle/>
          <a:p>
            <a:pPr indent="0" marL="0">
              <a:buNone/>
            </a:pPr>
            <a:r>
              <a:rPr lang="en-US" sz="1400" dirty="0">
                <a:solidFill>
                  <a:schemeClr val="bg2"/>
                </a:solidFill>
              </a:rPr>
              <a:t>trails expire; the person can erase theirs</a:t>
            </a:r>
            <a:endParaRPr lang="en-US" sz="1400" dirty="0"/>
          </a:p>
        </p:txBody>
      </p:sp>
      <p:sp>
        <p:nvSpPr>
          <p:cNvPr id="13" name="Audited access marker"/>
          <p:cNvSpPr/>
          <p:nvPr/>
        </p:nvSpPr>
        <p:spPr>
          <a:xfrm>
            <a:off x="548640" y="3886200"/>
            <a:ext cx="329184" cy="329184"/>
          </a:xfrm>
          <a:prstGeom prst="ellipse">
            <a:avLst/>
          </a:prstGeom>
          <a:solidFill>
            <a:schemeClr val="accent2"/>
          </a:solidFill>
          <a:ln w="12700">
            <a:solidFill>
              <a:schemeClr val="accent2"/>
            </a:solidFill>
            <a:prstDash val="solid"/>
          </a:ln>
        </p:spPr>
      </p:sp>
      <p:sp>
        <p:nvSpPr>
          <p:cNvPr id="14" name="Audited access title"/>
          <p:cNvSpPr txBox="1"/>
          <p:nvPr/>
        </p:nvSpPr>
        <p:spPr>
          <a:xfrm>
            <a:off x="1051560" y="3776472"/>
            <a:ext cx="4572000" cy="365760"/>
          </a:xfrm>
          <a:prstGeom prst="rect">
            <a:avLst/>
          </a:prstGeom>
          <a:noFill/>
          <a:ln/>
        </p:spPr>
        <p:txBody>
          <a:bodyPr wrap="square" lIns="0" tIns="0" rIns="0" bIns="0" rtlCol="0" anchor="ctr"/>
          <a:lstStyle/>
          <a:p>
            <a:pPr indent="0" marL="0">
              <a:buNone/>
            </a:pPr>
            <a:r>
              <a:rPr lang="en-US" sz="1700" b="1" dirty="0">
                <a:solidFill>
                  <a:schemeClr val="bg1"/>
                </a:solidFill>
              </a:rPr>
              <a:t>Audited access</a:t>
            </a:r>
            <a:endParaRPr lang="en-US" sz="1700" dirty="0"/>
          </a:p>
        </p:txBody>
      </p:sp>
      <p:sp>
        <p:nvSpPr>
          <p:cNvPr id="15" name="Audited access text"/>
          <p:cNvSpPr txBox="1"/>
          <p:nvPr/>
        </p:nvSpPr>
        <p:spPr>
          <a:xfrm>
            <a:off x="1051560" y="4123944"/>
            <a:ext cx="4572000" cy="347472"/>
          </a:xfrm>
          <a:prstGeom prst="rect">
            <a:avLst/>
          </a:prstGeom>
          <a:noFill/>
          <a:ln/>
        </p:spPr>
        <p:txBody>
          <a:bodyPr wrap="square" lIns="0" tIns="0" rIns="0" bIns="0" rtlCol="0" anchor="ctr"/>
          <a:lstStyle/>
          <a:p>
            <a:pPr indent="0" marL="0">
              <a:buNone/>
            </a:pPr>
            <a:r>
              <a:rPr lang="en-US" sz="1400" dirty="0">
                <a:solidFill>
                  <a:schemeClr val="bg2"/>
                </a:solidFill>
              </a:rPr>
              <a:t>every look at a location goes in a Merkle log</a:t>
            </a:r>
            <a:endParaRPr lang="en-US" sz="1400" dirty="0"/>
          </a:p>
        </p:txBody>
      </p:sp>
      <p:sp>
        <p:nvSpPr>
          <p:cNvPr id="16" name="Need to know marker"/>
          <p:cNvSpPr/>
          <p:nvPr/>
        </p:nvSpPr>
        <p:spPr>
          <a:xfrm>
            <a:off x="548640" y="4672584"/>
            <a:ext cx="329184" cy="329184"/>
          </a:xfrm>
          <a:prstGeom prst="ellipse">
            <a:avLst/>
          </a:prstGeom>
          <a:solidFill>
            <a:schemeClr val="accent5"/>
          </a:solidFill>
          <a:ln w="12700">
            <a:solidFill>
              <a:schemeClr val="accent5"/>
            </a:solidFill>
            <a:prstDash val="solid"/>
          </a:ln>
        </p:spPr>
      </p:sp>
      <p:sp>
        <p:nvSpPr>
          <p:cNvPr id="17" name="Need to know title"/>
          <p:cNvSpPr txBox="1"/>
          <p:nvPr/>
        </p:nvSpPr>
        <p:spPr>
          <a:xfrm>
            <a:off x="1051560" y="4562856"/>
            <a:ext cx="4572000" cy="365760"/>
          </a:xfrm>
          <a:prstGeom prst="rect">
            <a:avLst/>
          </a:prstGeom>
          <a:noFill/>
          <a:ln/>
        </p:spPr>
        <p:txBody>
          <a:bodyPr wrap="square" lIns="0" tIns="0" rIns="0" bIns="0" rtlCol="0" anchor="ctr"/>
          <a:lstStyle/>
          <a:p>
            <a:pPr indent="0" marL="0">
              <a:buNone/>
            </a:pPr>
            <a:r>
              <a:rPr lang="en-US" sz="1700" b="1" dirty="0">
                <a:solidFill>
                  <a:schemeClr val="bg1"/>
                </a:solidFill>
              </a:rPr>
              <a:t>Need to know</a:t>
            </a:r>
            <a:endParaRPr lang="en-US" sz="1700" dirty="0"/>
          </a:p>
        </p:txBody>
      </p:sp>
      <p:sp>
        <p:nvSpPr>
          <p:cNvPr id="18" name="Need to know text"/>
          <p:cNvSpPr txBox="1"/>
          <p:nvPr/>
        </p:nvSpPr>
        <p:spPr>
          <a:xfrm>
            <a:off x="1051560" y="4910328"/>
            <a:ext cx="4572000" cy="347472"/>
          </a:xfrm>
          <a:prstGeom prst="rect">
            <a:avLst/>
          </a:prstGeom>
          <a:noFill/>
          <a:ln/>
        </p:spPr>
        <p:txBody>
          <a:bodyPr wrap="square" lIns="0" tIns="0" rIns="0" bIns="0" rtlCol="0" anchor="ctr"/>
          <a:lstStyle/>
          <a:p>
            <a:pPr indent="0" marL="0">
              <a:buNone/>
            </a:pPr>
            <a:r>
              <a:rPr lang="en-US" sz="1400" dirty="0">
                <a:solidFill>
                  <a:schemeClr val="bg2"/>
                </a:solidFill>
              </a:rPr>
              <a:t>responders see a person only while assigned</a:t>
            </a:r>
            <a:endParaRPr lang="en-US" sz="1400" dirty="0"/>
          </a:p>
        </p:txBody>
      </p:sp>
      <p:sp>
        <p:nvSpPr>
          <p:cNvPr id="19" name="Honest demo data marker"/>
          <p:cNvSpPr/>
          <p:nvPr/>
        </p:nvSpPr>
        <p:spPr>
          <a:xfrm>
            <a:off x="548640" y="5458968"/>
            <a:ext cx="329184" cy="329184"/>
          </a:xfrm>
          <a:prstGeom prst="ellipse">
            <a:avLst/>
          </a:prstGeom>
          <a:solidFill>
            <a:schemeClr val="accent6"/>
          </a:solidFill>
          <a:ln w="12700">
            <a:solidFill>
              <a:schemeClr val="accent6"/>
            </a:solidFill>
            <a:prstDash val="solid"/>
          </a:ln>
        </p:spPr>
      </p:sp>
      <p:sp>
        <p:nvSpPr>
          <p:cNvPr id="20" name="Honest demo data title"/>
          <p:cNvSpPr txBox="1"/>
          <p:nvPr/>
        </p:nvSpPr>
        <p:spPr>
          <a:xfrm>
            <a:off x="1051560" y="5349240"/>
            <a:ext cx="4572000" cy="365760"/>
          </a:xfrm>
          <a:prstGeom prst="rect">
            <a:avLst/>
          </a:prstGeom>
          <a:noFill/>
          <a:ln/>
        </p:spPr>
        <p:txBody>
          <a:bodyPr wrap="square" lIns="0" tIns="0" rIns="0" bIns="0" rtlCol="0" anchor="ctr"/>
          <a:lstStyle/>
          <a:p>
            <a:pPr indent="0" marL="0">
              <a:buNone/>
            </a:pPr>
            <a:r>
              <a:rPr lang="en-US" sz="1700" b="1" dirty="0">
                <a:solidFill>
                  <a:schemeClr val="bg1"/>
                </a:solidFill>
              </a:rPr>
              <a:t>Honest demo data</a:t>
            </a:r>
            <a:endParaRPr lang="en-US" sz="1700" dirty="0"/>
          </a:p>
        </p:txBody>
      </p:sp>
      <p:sp>
        <p:nvSpPr>
          <p:cNvPr id="21" name="Honest demo data text"/>
          <p:cNvSpPr txBox="1"/>
          <p:nvPr/>
        </p:nvSpPr>
        <p:spPr>
          <a:xfrm>
            <a:off x="1051560" y="5696712"/>
            <a:ext cx="4572000" cy="347472"/>
          </a:xfrm>
          <a:prstGeom prst="rect">
            <a:avLst/>
          </a:prstGeom>
          <a:noFill/>
          <a:ln/>
        </p:spPr>
        <p:txBody>
          <a:bodyPr wrap="square" lIns="0" tIns="0" rIns="0" bIns="0" rtlCol="0" anchor="ctr"/>
          <a:lstStyle/>
          <a:p>
            <a:pPr indent="0" marL="0">
              <a:buNone/>
            </a:pPr>
            <a:r>
              <a:rPr lang="en-US" sz="1400" dirty="0">
                <a:solidFill>
                  <a:schemeClr val="bg2"/>
                </a:solidFill>
              </a:rPr>
              <a:t>simulated people marked SIM, fixtures DEMO</a:t>
            </a:r>
            <a:endParaRPr lang="en-US" sz="1400" dirty="0"/>
          </a:p>
        </p:txBody>
      </p:sp>
      <p:pic>
        <p:nvPicPr>
          <p:cNvPr id="22" name="tourist page screenshot" descr="tourist page screenshot">    </p:cNvPr>
          <p:cNvPicPr>
            <a:picLocks noChangeAspect="1"/>
          </p:cNvPicPr>
          <p:nvPr/>
        </p:nvPicPr>
        <p:blipFill>
          <a:blip r:embed="rId1"/>
          <a:stretch>
            <a:fillRect/>
          </a:stretch>
        </p:blipFill>
        <p:spPr>
          <a:xfrm>
            <a:off x="6035040" y="1463040"/>
            <a:ext cx="5577840" cy="3486150"/>
          </a:xfrm>
          <a:prstGeom prst="rect">
            <a:avLst/>
          </a:prstGeom>
        </p:spPr>
      </p:pic>
      <p:sp>
        <p:nvSpPr>
          <p:cNvPr id="23" name="tourist caption"/>
          <p:cNvSpPr txBox="1"/>
          <p:nvPr/>
        </p:nvSpPr>
        <p:spPr>
          <a:xfrm>
            <a:off x="6035040" y="4983480"/>
            <a:ext cx="5577840" cy="365760"/>
          </a:xfrm>
          <a:prstGeom prst="rect">
            <a:avLst/>
          </a:prstGeom>
          <a:noFill/>
          <a:ln/>
        </p:spPr>
        <p:txBody>
          <a:bodyPr wrap="square" lIns="0" tIns="0" rIns="0" bIns="0" rtlCol="0" anchor="ctr"/>
          <a:lstStyle/>
          <a:p>
            <a:pPr indent="0" marL="0">
              <a:buNone/>
            </a:pPr>
            <a:r>
              <a:rPr lang="en-US" sz="1100" dirty="0">
                <a:solidFill>
                  <a:schemeClr val="bg2"/>
                </a:solidFill>
              </a:rPr>
              <a:t>My Safety: the tourist's own consent switch, sharing state, SOS and erasure</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64240" cy="1097280"/>
          </a:xfrm>
          <a:prstGeom prst="rect">
            <a:avLst/>
          </a:prstGeom>
          <a:noFill/>
          <a:ln/>
        </p:spPr>
        <p:txBody>
          <a:bodyPr wrap="square" lIns="0" tIns="0" rIns="0" bIns="0" rtlCol="0"/>
          <a:lstStyle/>
          <a:p>
            <a:pPr algn="l" indent="0" marL="0">
              <a:buNone/>
            </a:pPr>
            <a:r>
              <a:rPr lang="en-US" sz="4800" b="1" dirty="0">
                <a:solidFill>
                  <a:schemeClr val="bg1"/>
                </a:solidFill>
              </a:rPr>
              <a:t>Live demo</a:t>
            </a:r>
            <a:endParaRPr lang="en-US" sz="4800" dirty="0"/>
          </a:p>
        </p:txBody>
      </p:sp>
      <p:sp>
        <p:nvSpPr>
          <p:cNvPr id="3" name="Text 0"/>
          <p:cNvSpPr/>
          <p:nvPr>
            <p:ph idx="101" type="body" hasCustomPrompt="1"/>
          </p:nvPr>
        </p:nvSpPr>
        <p:spPr>
          <a:xfrm>
            <a:off x="548640" y="3566160"/>
            <a:ext cx="11064240" cy="2377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chemeClr val="bg2"/>
                </a:solidFill>
              </a:rPr>
              <a:t>Simulated tourists over real OpenStreetMap zones and roads</a:t>
            </a:r>
            <a:endParaRPr lang="en-US" sz="1800" dirty="0"/>
          </a:p>
          <a:p>
            <a:pPr algn="l" marL="342900" indent="-342900">
              <a:spcAft>
                <a:spcPts val="800"/>
              </a:spcAft>
              <a:buSzPct val="100000"/>
              <a:buChar char="•"/>
            </a:pPr>
            <a:r>
              <a:rPr lang="en-US" sz="1800" dirty="0">
                <a:solidFill>
                  <a:schemeClr val="bg2"/>
                </a:solidFill>
              </a:rPr>
              <a:t>Restricted-zone entry → alert → incident → A* dispatch</a:t>
            </a:r>
            <a:endParaRPr lang="en-US" sz="1800" dirty="0"/>
          </a:p>
          <a:p>
            <a:pPr algn="l" marL="342900" indent="-342900">
              <a:spcAft>
                <a:spcPts val="800"/>
              </a:spcAft>
              <a:buSzPct val="100000"/>
              <a:buChar char="•"/>
            </a:pPr>
            <a:r>
              <a:rPr lang="en-US" sz="1800" dirty="0">
                <a:solidFill>
                  <a:schemeClr val="bg2"/>
                </a:solidFill>
              </a:rPr>
              <a:t>Group separation, and a phone that goes offline and syncs</a:t>
            </a:r>
            <a:endParaRPr lang="en-US" sz="1800" dirty="0"/>
          </a:p>
          <a:p>
            <a:pPr algn="l" marL="342900" indent="-342900">
              <a:spcAft>
                <a:spcPts val="800"/>
              </a:spcAft>
              <a:buSzPct val="100000"/>
              <a:buChar char="•"/>
            </a:pPr>
            <a:r>
              <a:rPr lang="en-US" sz="1800" dirty="0">
                <a:solidFill>
                  <a:schemeClr val="bg2"/>
                </a:solidFill>
              </a:rPr>
              <a:t>What the system knew at a past time; Merkle proof checked in the browser</a:t>
            </a:r>
            <a:endParaRPr lang="en-US" sz="1800" dirty="0"/>
          </a:p>
          <a:p>
            <a:pPr algn="l" marL="342900" indent="-342900">
              <a:spcAft>
                <a:spcPts val="800"/>
              </a:spcAft>
              <a:buSzPct val="100000"/>
              <a:buChar char="•"/>
            </a:pPr>
            <a:r>
              <a:rPr lang="en-US" sz="1800" dirty="0">
                <a:solidFill>
                  <a:schemeClr val="bg2"/>
                </a:solidFill>
              </a:rPr>
              <a:t>Data Structures Lab: the real quadtree, R-tree, AVL tree, Dijkstra and A*</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Syllabus topics, each in working code</a:t>
            </a:r>
            <a:endParaRPr lang="en-US" sz="3600" dirty="0"/>
          </a:p>
        </p:txBody>
      </p:sp>
      <p:graphicFrame>
        <p:nvGraphicFramePr>
          <p:cNvPr id="13" name="syllabus table"/>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3566160"/>
                <a:gridCol w="3749040"/>
              </a:tblGrid>
              <a:tr h="457200">
                <a:tc>
                  <a:txBody>
                    <a:bodyPr/>
                    <a:lstStyle/>
                    <a:p>
                      <a:pPr indent="0" marL="0">
                        <a:buNone/>
                      </a:pPr>
                      <a:r>
                        <a:rPr lang="en-US" sz="1300" b="1" dirty="0">
                          <a:solidFill>
                            <a:schemeClr val="bg2"/>
                          </a:solidFill>
                        </a:rPr>
                        <a:t>Syllabus concept</a:t>
                      </a:r>
                      <a:endParaRPr lang="en-US" sz="13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Where SafeTrail uses it</a:t>
                      </a:r>
                      <a:endParaRPr lang="en-US" sz="13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accent1"/>
                          </a:solidFill>
                        </a:rPr>
                        <a:t>Arrays, ring buffer</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zone store; last 64 fixes</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accent1"/>
                          </a:solidFill>
                        </a:rPr>
                        <a:t>Trees, recursion, traversal</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quadtree and R-tree queries</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accent1"/>
                          </a:solidFill>
                        </a:rPr>
                        <a:t>BST, AVL rotations, augmentation</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interval tree for validity windows</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accent1"/>
                          </a:solidFill>
                        </a:rPr>
                        <a:t>Hashing, collision handling</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users, sessions, sync de-duplication</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accent1"/>
                          </a:solidFill>
                        </a:rPr>
                        <a:t>Heap, priority queue</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Dijkstra, A*, alert triage</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accent1"/>
                          </a:solidFill>
                        </a:rPr>
                        <a:t>Graphs, adjacency list, shortest paths</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road network, responder routing</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accent1"/>
                          </a:solidFill>
                        </a:rPr>
                        <a:t>Union-find</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group cohesion, incident correlation</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accent1"/>
                          </a:solidFill>
                        </a:rPr>
                        <a:t>Binary search</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position at a past time</a:t>
                      </a:r>
                      <a:endParaRPr lang="en-US" sz="1400" dirty="0"/>
                    </a:p>
                  </a:txBody>
                  <a:tcPr marL="91440" marR="91440" marT="45720" marB="45720" anchor="ctr">
                    <a:lnL w="9525" cap="flat" cmpd="sng" algn="ctr">
                      <a:solidFill>
                        <a:srgbClr val="273140"/>
                      </a:solidFill>
                      <a:prstDash val="solid"/>
                      <a:round/>
                      <a:headEnd type="none" w="med" len="med"/>
                      <a:tailEnd type="none" w="med" len="med"/>
                    </a:lnL>
                    <a:lnR w="9525" cap="flat" cmpd="sng" algn="ctr">
                      <a:solidFill>
                        <a:srgbClr val="273140"/>
                      </a:solidFill>
                      <a:prstDash val="solid"/>
                      <a:round/>
                      <a:headEnd type="none" w="med" len="med"/>
                      <a:tailEnd type="none" w="med" len="med"/>
                    </a:lnR>
                    <a:lnT w="9525" cap="flat" cmpd="sng" algn="ctr">
                      <a:solidFill>
                        <a:srgbClr val="273140"/>
                      </a:solidFill>
                      <a:prstDash val="solid"/>
                      <a:round/>
                      <a:headEnd type="none" w="med" len="med"/>
                      <a:tailEnd type="none" w="med" len="med"/>
                    </a:lnT>
                    <a:lnB w="9525" cap="flat" cmpd="sng" algn="ctr">
                      <a:solidFill>
                        <a:srgbClr val="273140"/>
                      </a:solidFill>
                      <a:prstDash val="solid"/>
                      <a:round/>
                      <a:headEnd type="none" w="med" len="med"/>
                      <a:tailEnd type="none" w="med" len="med"/>
                    </a:lnB>
                    <a:solidFill>
                      <a:schemeClr val="tx1"/>
                    </a:solidFill>
                  </a:tcPr>
                </a:tc>
              </a:tr>
            </a:tbl>
          </a:graphicData>
        </a:graphic>
      </p:graphicFrame>
      <p:sp>
        <p:nvSpPr>
          <p:cNvPr id="5" name="beyond card"/>
          <p:cNvSpPr/>
          <p:nvPr/>
        </p:nvSpPr>
        <p:spPr>
          <a:xfrm>
            <a:off x="8229600" y="1371600"/>
            <a:ext cx="3383280" cy="4114800"/>
          </a:xfrm>
          <a:prstGeom prst="roundRect">
            <a:avLst>
              <a:gd name="adj" fmla="val 2162"/>
            </a:avLst>
          </a:prstGeom>
          <a:solidFill>
            <a:schemeClr val="tx2"/>
          </a:solidFill>
          <a:ln w="12700">
            <a:solidFill>
              <a:schemeClr val="tx2"/>
            </a:solidFill>
            <a:prstDash val="solid"/>
          </a:ln>
        </p:spPr>
      </p:sp>
      <p:sp>
        <p:nvSpPr>
          <p:cNvPr id="6" name="beyond title"/>
          <p:cNvSpPr txBox="1"/>
          <p:nvPr/>
        </p:nvSpPr>
        <p:spPr>
          <a:xfrm>
            <a:off x="8503920" y="1554480"/>
            <a:ext cx="2926080" cy="411480"/>
          </a:xfrm>
          <a:prstGeom prst="rect">
            <a:avLst/>
          </a:prstGeom>
          <a:noFill/>
          <a:ln/>
        </p:spPr>
        <p:txBody>
          <a:bodyPr wrap="square" lIns="0" tIns="0" rIns="0" bIns="0" rtlCol="0" anchor="ctr"/>
          <a:lstStyle/>
          <a:p>
            <a:pPr indent="0" marL="0">
              <a:buNone/>
            </a:pPr>
            <a:r>
              <a:rPr lang="en-US" sz="1700" b="1" dirty="0">
                <a:solidFill>
                  <a:schemeClr val="accent2"/>
                </a:solidFill>
              </a:rPr>
              <a:t>Beyond the syllabus</a:t>
            </a:r>
            <a:endParaRPr lang="en-US" sz="1700" dirty="0"/>
          </a:p>
        </p:txBody>
      </p:sp>
      <p:sp>
        <p:nvSpPr>
          <p:cNvPr id="7" name="beyond list"/>
          <p:cNvSpPr txBox="1"/>
          <p:nvPr/>
        </p:nvSpPr>
        <p:spPr>
          <a:xfrm>
            <a:off x="8503920" y="2057400"/>
            <a:ext cx="292608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Persistent data structures</a:t>
            </a:r>
            <a:endParaRPr lang="en-US" sz="1400" dirty="0"/>
          </a:p>
          <a:p>
            <a:pPr marL="342900" indent="-342900">
              <a:spcAft>
                <a:spcPts val="600"/>
              </a:spcAft>
              <a:buSzPct val="100000"/>
              <a:buChar char="•"/>
            </a:pPr>
            <a:r>
              <a:rPr lang="en-US" sz="1400" dirty="0">
                <a:solidFill>
                  <a:schemeClr val="bg1"/>
                </a:solidFill>
              </a:rPr>
              <a:t>Merkle proofs, SHA-256</a:t>
            </a:r>
            <a:endParaRPr lang="en-US" sz="1400" dirty="0"/>
          </a:p>
          <a:p>
            <a:pPr marL="342900" indent="-342900">
              <a:spcAft>
                <a:spcPts val="600"/>
              </a:spcAft>
              <a:buSzPct val="100000"/>
              <a:buChar char="•"/>
            </a:pPr>
            <a:r>
              <a:rPr lang="en-US" sz="1400" dirty="0">
                <a:solidFill>
                  <a:schemeClr val="bg1"/>
                </a:solidFill>
              </a:rPr>
              <a:t>Lamport clocks, offline sync</a:t>
            </a:r>
            <a:endParaRPr lang="en-US" sz="1400" dirty="0"/>
          </a:p>
          <a:p>
            <a:pPr marL="342900" indent="-342900">
              <a:spcAft>
                <a:spcPts val="600"/>
              </a:spcAft>
              <a:buSzPct val="100000"/>
              <a:buChar char="•"/>
            </a:pPr>
            <a:r>
              <a:rPr lang="en-US" sz="1400" dirty="0">
                <a:solidFill>
                  <a:schemeClr val="bg1"/>
                </a:solidFill>
              </a:rPr>
              <a:t>Computational geometry</a:t>
            </a:r>
            <a:endParaRPr lang="en-US" sz="1400" dirty="0"/>
          </a:p>
          <a:p>
            <a:pPr marL="342900" indent="-342900">
              <a:spcAft>
                <a:spcPts val="600"/>
              </a:spcAft>
              <a:buSzPct val="100000"/>
              <a:buChar char="•"/>
            </a:pPr>
            <a:r>
              <a:rPr lang="en-US" sz="1400" dirty="0">
                <a:solidFill>
                  <a:schemeClr val="bg1"/>
                </a:solidFill>
              </a:rPr>
              <a:t>Hysteresis, state machines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it does not claim, and what comes next</a:t>
            </a:r>
            <a:endParaRPr lang="en-US" sz="3600" dirty="0"/>
          </a:p>
        </p:txBody>
      </p:sp>
      <p:sp>
        <p:nvSpPr>
          <p:cNvPr id="4" name="limitations"/>
          <p:cNvSpPr/>
          <p:nvPr/>
        </p:nvSpPr>
        <p:spPr>
          <a:xfrm>
            <a:off x="548640" y="1417320"/>
            <a:ext cx="5394960" cy="3657600"/>
          </a:xfrm>
          <a:prstGeom prst="roundRect">
            <a:avLst>
              <a:gd name="adj" fmla="val 2000"/>
            </a:avLst>
          </a:prstGeom>
          <a:solidFill>
            <a:schemeClr val="tx2"/>
          </a:solidFill>
          <a:ln w="12700">
            <a:solidFill>
              <a:schemeClr val="tx2"/>
            </a:solidFill>
            <a:prstDash val="solid"/>
          </a:ln>
        </p:spPr>
      </p:sp>
      <p:sp>
        <p:nvSpPr>
          <p:cNvPr id="5" name="limitations title"/>
          <p:cNvSpPr txBox="1"/>
          <p:nvPr/>
        </p:nvSpPr>
        <p:spPr>
          <a:xfrm>
            <a:off x="868680" y="1645920"/>
            <a:ext cx="4754880" cy="457200"/>
          </a:xfrm>
          <a:prstGeom prst="rect">
            <a:avLst/>
          </a:prstGeom>
          <a:noFill/>
          <a:ln/>
        </p:spPr>
        <p:txBody>
          <a:bodyPr wrap="square" lIns="0" tIns="0" rIns="0" bIns="0" rtlCol="0" anchor="ctr"/>
          <a:lstStyle/>
          <a:p>
            <a:pPr indent="0" marL="0">
              <a:buNone/>
            </a:pPr>
            <a:r>
              <a:rPr lang="en-US" sz="2000" b="1" dirty="0">
                <a:solidFill>
                  <a:schemeClr val="accent2"/>
                </a:solidFill>
              </a:rPr>
              <a:t>Limitations</a:t>
            </a:r>
            <a:endParaRPr lang="en-US" sz="2000" dirty="0"/>
          </a:p>
        </p:txBody>
      </p:sp>
      <p:sp>
        <p:nvSpPr>
          <p:cNvPr id="6" name="limitations list"/>
          <p:cNvSpPr txBox="1"/>
          <p:nvPr/>
        </p:nvSpPr>
        <p:spPr>
          <a:xfrm>
            <a:off x="868680" y="2240280"/>
            <a:ext cx="475488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People are simulated; no field trial</a:t>
            </a:r>
            <a:endParaRPr lang="en-US" sz="1500" dirty="0"/>
          </a:p>
          <a:p>
            <a:pPr marL="342900" indent="-342900">
              <a:spcAft>
                <a:spcPts val="800"/>
              </a:spcAft>
              <a:buSzPct val="100000"/>
              <a:buChar char="•"/>
            </a:pPr>
            <a:r>
              <a:rPr lang="en-US" sz="1500" dirty="0">
                <a:solidFill>
                  <a:schemeClr val="bg1"/>
                </a:solidFill>
              </a:rPr>
              <a:t>Server state is in memory, one thread</a:t>
            </a:r>
            <a:endParaRPr lang="en-US" sz="1500" dirty="0"/>
          </a:p>
          <a:p>
            <a:pPr marL="342900" indent="-342900">
              <a:spcAft>
                <a:spcPts val="800"/>
              </a:spcAft>
              <a:buSzPct val="100000"/>
              <a:buChar char="•"/>
            </a:pPr>
            <a:r>
              <a:rPr lang="en-US" sz="1500" dirty="0">
                <a:solidFill>
                  <a:schemeClr val="bg1"/>
                </a:solidFill>
              </a:rPr>
              <a:t>OSM hazard polygons are thin: 'uncertain' is often the honest answer</a:t>
            </a:r>
            <a:endParaRPr lang="en-US" sz="1500" dirty="0"/>
          </a:p>
          <a:p>
            <a:pPr marL="342900" indent="-342900">
              <a:spcAft>
                <a:spcPts val="800"/>
              </a:spcAft>
              <a:buSzPct val="100000"/>
              <a:buChar char="•"/>
            </a:pPr>
            <a:r>
              <a:rPr lang="en-US" sz="1500" dirty="0">
                <a:solidFill>
                  <a:schemeClr val="bg1"/>
                </a:solidFill>
              </a:rPr>
              <a:t>Benchmarks from one laptop; ratios move between sessions</a:t>
            </a:r>
            <a:endParaRPr lang="en-US" sz="1500" dirty="0"/>
          </a:p>
          <a:p>
            <a:pPr marL="342900" indent="-342900">
              <a:spcAft>
                <a:spcPts val="800"/>
              </a:spcAft>
              <a:buSzPct val="100000"/>
              <a:buChar char="•"/>
            </a:pPr>
            <a:r>
              <a:rPr lang="en-US" sz="1500" dirty="0">
                <a:solidFill>
                  <a:schemeClr val="bg1"/>
                </a:solidFill>
              </a:rPr>
              <a:t>Battery figure is a model, not a measurement</a:t>
            </a:r>
            <a:endParaRPr lang="en-US" sz="1500" dirty="0"/>
          </a:p>
        </p:txBody>
      </p:sp>
      <p:sp>
        <p:nvSpPr>
          <p:cNvPr id="7" name="next"/>
          <p:cNvSpPr/>
          <p:nvPr/>
        </p:nvSpPr>
        <p:spPr>
          <a:xfrm>
            <a:off x="6217920" y="1417320"/>
            <a:ext cx="5394960" cy="3657600"/>
          </a:xfrm>
          <a:prstGeom prst="roundRect">
            <a:avLst>
              <a:gd name="adj" fmla="val 2000"/>
            </a:avLst>
          </a:prstGeom>
          <a:solidFill>
            <a:schemeClr val="tx2"/>
          </a:solidFill>
          <a:ln w="12700">
            <a:solidFill>
              <a:schemeClr val="tx2"/>
            </a:solidFill>
            <a:prstDash val="solid"/>
          </a:ln>
        </p:spPr>
      </p:sp>
      <p:sp>
        <p:nvSpPr>
          <p:cNvPr id="8" name="next title"/>
          <p:cNvSpPr txBox="1"/>
          <p:nvPr/>
        </p:nvSpPr>
        <p:spPr>
          <a:xfrm>
            <a:off x="6537960" y="1645920"/>
            <a:ext cx="4754880" cy="457200"/>
          </a:xfrm>
          <a:prstGeom prst="rect">
            <a:avLst/>
          </a:prstGeom>
          <a:noFill/>
          <a:ln/>
        </p:spPr>
        <p:txBody>
          <a:bodyPr wrap="square" lIns="0" tIns="0" rIns="0" bIns="0" rtlCol="0" anchor="ctr"/>
          <a:lstStyle/>
          <a:p>
            <a:pPr indent="0" marL="0">
              <a:buNone/>
            </a:pPr>
            <a:r>
              <a:rPr lang="en-US" sz="2000" b="1" dirty="0">
                <a:solidFill>
                  <a:schemeClr val="accent1"/>
                </a:solidFill>
              </a:rPr>
              <a:t>Next</a:t>
            </a:r>
            <a:endParaRPr lang="en-US" sz="2000" dirty="0"/>
          </a:p>
        </p:txBody>
      </p:sp>
      <p:sp>
        <p:nvSpPr>
          <p:cNvPr id="9" name="next list"/>
          <p:cNvSpPr txBox="1"/>
          <p:nvPr/>
        </p:nvSpPr>
        <p:spPr>
          <a:xfrm>
            <a:off x="6537960" y="2240280"/>
            <a:ext cx="475488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Durable event log, signed Merkle roots</a:t>
            </a:r>
            <a:endParaRPr lang="en-US" sz="1500" dirty="0"/>
          </a:p>
          <a:p>
            <a:pPr marL="342900" indent="-342900">
              <a:spcAft>
                <a:spcPts val="800"/>
              </a:spcAft>
              <a:buSzPct val="100000"/>
              <a:buChar char="•"/>
            </a:pPr>
            <a:r>
              <a:rPr lang="en-US" sz="1500" dirty="0">
                <a:solidFill>
                  <a:schemeClr val="bg1"/>
                </a:solidFill>
              </a:rPr>
              <a:t>Evaluation on real GPS traces</a:t>
            </a:r>
            <a:endParaRPr lang="en-US" sz="1500" dirty="0"/>
          </a:p>
          <a:p>
            <a:pPr marL="342900" indent="-342900">
              <a:spcAft>
                <a:spcPts val="800"/>
              </a:spcAft>
              <a:buSzPct val="100000"/>
              <a:buChar char="•"/>
            </a:pPr>
            <a:r>
              <a:rPr lang="en-US" sz="1500" dirty="0">
                <a:solidFill>
                  <a:schemeClr val="bg1"/>
                </a:solidFill>
              </a:rPr>
              <a:t>Phone app running the same offline evaluator</a:t>
            </a:r>
            <a:endParaRPr lang="en-US" sz="1500" dirty="0"/>
          </a:p>
          <a:p>
            <a:pPr marL="342900" indent="-342900">
              <a:spcAft>
                <a:spcPts val="800"/>
              </a:spcAft>
              <a:buSzPct val="100000"/>
              <a:buChar char="•"/>
            </a:pPr>
            <a:r>
              <a:rPr lang="en-US" sz="1500" dirty="0">
                <a:solidFill>
                  <a:schemeClr val="bg1"/>
                </a:solidFill>
              </a:rPr>
              <a:t>O(log n) index removal; travel-time routing</a:t>
            </a:r>
            <a:endParaRPr lang="en-US" sz="1500" dirty="0"/>
          </a:p>
          <a:p>
            <a:pPr marL="342900" indent="-342900">
              <a:spcAft>
                <a:spcPts val="800"/>
              </a:spcAft>
              <a:buSzPct val="100000"/>
              <a:buChar char="•"/>
            </a:pPr>
            <a:r>
              <a:rPr lang="en-US" sz="1500" dirty="0">
                <a:solidFill>
                  <a:schemeClr val="bg1"/>
                </a:solidFill>
              </a:rPr>
              <a:t>TLS, Argon2id, external security review</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852160" cy="128016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548640" y="3429000"/>
            <a:ext cx="5669280" cy="1463040"/>
          </a:xfrm>
          <a:prstGeom prst="rect">
            <a:avLst/>
          </a:prstGeom>
          <a:noFill/>
          <a:ln/>
        </p:spPr>
        <p:txBody>
          <a:bodyPr wrap="square" lIns="0" tIns="0" rIns="0" bIns="0" rtlCol="0" anchor="t"/>
          <a:lstStyle/>
          <a:p>
            <a:pPr algn="l" indent="0" marL="0">
              <a:buNone/>
            </a:pPr>
            <a:r>
              <a:rPr lang="en-US" sz="2000" dirty="0">
                <a:solidFill>
                  <a:schemeClr val="bg2"/>
                </a:solidFill>
              </a:rPr>
              <a:t>Code, tests, benchmarks, report and this deck: github.com/adivishall/safetrail. Every number here is regenerated by make bench.</a:t>
            </a:r>
            <a:endParaRPr lang="en-US" sz="2000" dirty="0"/>
          </a:p>
        </p:txBody>
      </p:sp>
      <p:pic>
        <p:nvPicPr>
          <p:cNvPr id="4" name="incident screenshot" descr="Incident with A* road route">    </p:cNvPr>
          <p:cNvPicPr>
            <a:picLocks noChangeAspect="1"/>
          </p:cNvPicPr>
          <p:nvPr/>
        </p:nvPicPr>
        <p:blipFill>
          <a:blip r:embed="rId1"/>
          <a:stretch>
            <a:fillRect/>
          </a:stretch>
        </p:blipFill>
        <p:spPr>
          <a:xfrm>
            <a:off x="6675120" y="1051560"/>
            <a:ext cx="5120640" cy="3200400"/>
          </a:xfrm>
          <a:prstGeom prst="rect">
            <a:avLst/>
          </a:prstGeom>
        </p:spPr>
      </p:pic>
      <p:sp>
        <p:nvSpPr>
          <p:cNvPr id="5" name="incident caption"/>
          <p:cNvSpPr txBox="1"/>
          <p:nvPr/>
        </p:nvSpPr>
        <p:spPr>
          <a:xfrm>
            <a:off x="6675120" y="4343400"/>
            <a:ext cx="5120640" cy="548640"/>
          </a:xfrm>
          <a:prstGeom prst="rect">
            <a:avLst/>
          </a:prstGeom>
          <a:noFill/>
          <a:ln/>
        </p:spPr>
        <p:txBody>
          <a:bodyPr wrap="square" lIns="0" tIns="0" rIns="0" bIns="0" rtlCol="0" anchor="ctr"/>
          <a:lstStyle/>
          <a:p>
            <a:pPr indent="0" marL="0">
              <a:buNone/>
            </a:pPr>
            <a:r>
              <a:rPr lang="en-US" sz="1100" dirty="0">
                <a:solidFill>
                  <a:schemeClr val="bg2"/>
                </a:solidFill>
              </a:rPr>
              <a:t>An incident assigned: the responder's route is A* over the OpenStreetMap road graph</a:t>
            </a:r>
            <a:endParaRPr lang="en-US" sz="1100" dirty="0"/>
          </a:p>
        </p:txBody>
      </p:sp>
    </p:spTree>
  </p:cSld>
  <p:clrMapOvr>
    <a:masterClrMapping/>
  </p:clrMapOvr>
</p:sld>
</file>

<file path=ppt/theme/theme1.xml><?xml version="1.0" encoding="utf-8"?>
<a:theme xmlns:a="http://schemas.openxmlformats.org/drawingml/2006/main" name="SafeTrail Operations">
  <a:themeElements>
    <a:clrScheme name="SafeTrail Operations">
      <a:dk1>
        <a:srgbClr val="0D1116"/>
      </a:dk1>
      <a:lt1>
        <a:srgbClr val="E3E8EE"/>
      </a:lt1>
      <a:dk2>
        <a:srgbClr val="161D25"/>
      </a:dk2>
      <a:lt2>
        <a:srgbClr val="A7B1BD"/>
      </a:lt2>
      <a:accent1>
        <a:srgbClr val="3FB6A8"/>
      </a:accent1>
      <a:accent2>
        <a:srgbClr val="D6A440"/>
      </a:accent2>
      <a:accent3>
        <a:srgbClr val="E07B39"/>
      </a:accent3>
      <a:accent4>
        <a:srgbClr val="E5484D"/>
      </a:accent4>
      <a:accent5>
        <a:srgbClr val="6C9BD2"/>
      </a:accent5>
      <a:accent6>
        <a:srgbClr val="8E7CD8"/>
      </a:accent6>
      <a:hlink>
        <a:srgbClr val="3FB6A8"/>
      </a:hlink>
      <a:folHlink>
        <a:srgbClr val="8E7CD8"/>
      </a:folHlink>
    </a:clrScheme>
    <a:fontScheme name="SafeTrail Operatio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SafeTrail — final project presentation</dc:title>
  <dc:subject>PptxGenJS Presentation</dc:subject>
  <dc:creator>Adi Vishal</dc:creator>
  <cp:lastModifiedBy>Adi Vishal</cp:lastModifiedBy>
  <cp:revision>1</cp:revision>
  <dcterms:created xsi:type="dcterms:W3CDTF">2026-10-30T09:35:15Z</dcterms:created>
  <dcterms:modified xsi:type="dcterms:W3CDTF">2026-10-30T09:35:15Z</dcterms:modified>
</cp:coreProperties>
</file>